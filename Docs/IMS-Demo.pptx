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6" r:id="rId6"/>
    <p:sldId id="260" r:id="rId7"/>
    <p:sldId id="262" r:id="rId8"/>
    <p:sldId id="271" r:id="rId9"/>
    <p:sldId id="261" r:id="rId10"/>
    <p:sldId id="263" r:id="rId11"/>
    <p:sldId id="270" r:id="rId12"/>
    <p:sldId id="264" r:id="rId13"/>
    <p:sldId id="265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A5AF6-A3A5-49AC-8FE6-FF7083386813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5AFE0A-D227-494E-99BD-4F75621BF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8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/>
              <a:t>سامانه‌ای برای ثبت آنلاین درخواست قبض انبار و نوبت ارزیابی، با استعلام خودکار و اطلاع‌رسانی پیامکی. تصاویر گوشی، پیامک‌های واقعی سامانه هستند.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AFE0A-D227-494E-99BD-4F75621BF2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621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/>
              <a:t>رد سیستمی بدون دخالت کارشناس انجام می‌شود و دلیل دقیق آن پیامک می‌شود؛ کارشناس فقط درخواست‌های سالم را می‌بیند.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AFE0A-D227-494E-99BD-4F75621BF2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96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/>
              <a:t>تصاویر، اسکرین‌شات واقعی پرتال عمومی سامانه در اندازه‌ی گوشی هستند؛ مقادیر فرم نمونه‌اند.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AFE0A-D227-494E-99BD-4F75621BF2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3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/>
              <a:t>پیامک و زمان‌ها از گوشی واقعی متقاضی در تاریخ ۱۴۰۵/۰۷/۲۹ است.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AFE0A-D227-494E-99BD-4F75621BF2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10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/>
              <a:t>اسکرین‌شات‌ها از پرتال واقعی در اندازه‌ی گوشی گرفته شده‌اند؛ مقادیر فرم نمونه‌اند و کد پیگیری </a:t>
            </a:r>
            <a:r>
              <a:rPr lang="en-US"/>
              <a:t>REQ00020268 </a:t>
            </a:r>
            <a:r>
              <a:rPr lang="ar-SA"/>
              <a:t>همان کد پیامک‌های واقعی است.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AFE0A-D227-494E-99BD-4F75621BF2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12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BF51A-2AC5-646F-A9A5-A5AE91BE5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D8586-ED31-1AAD-494F-7E0AE6FCD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C3E18-CF6B-F4A0-334E-301CE30F8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BBAC-0DA1-4590-820C-0AD135B4197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6A281-D500-0E92-7FD8-A90CD2E6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49483-2110-391D-80E2-D8A74D209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CD71D-2BCA-4284-BBE5-246B1EC60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0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9D40-3C70-7F4C-D877-B184F603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720BC-52C5-2F3B-7024-BC5738771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48A67-622E-4779-8B6D-3AFE68BDE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BBAC-0DA1-4590-820C-0AD135B4197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E7C78-9FDD-CB82-984A-4CC1E96B6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EC027-7C0F-EB6F-E29F-9B98877FD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CD71D-2BCA-4284-BBE5-246B1EC60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38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E4395-2176-1C46-9DC0-DC5BD244E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8FEAB-2C8C-2237-2A40-95619F2FA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B2405-EB90-AD56-F760-DA44471BE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BBAC-0DA1-4590-820C-0AD135B4197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08794-9433-86B9-331B-81AFBDE24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9FB91-B27B-C73F-3FDA-4B2A35A3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CD71D-2BCA-4284-BBE5-246B1EC60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51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1CF91-16EA-7FC0-7049-00892FB52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39CF1-BE0A-F7E5-FDD4-CD195D86B2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7F7A6-356C-9401-9315-7B2913FEF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4D8FB-0670-6617-0C22-2FA959E0C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BBAC-0DA1-4590-820C-0AD135B4197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03525-01CD-8FAC-85C9-9E1F1476E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36BD8-2637-D56B-41E5-5E1533E06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CD71D-2BCA-4284-BBE5-246B1EC60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73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CFC98-9E7C-B578-CFBF-B44A15BD9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C9460-3E28-C839-DFA5-60A197E8A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A8798-23EF-3ACA-5B88-C169644AA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A73B61-CDCE-1F53-6CCB-B2EC7A0E4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8F12E-6B4B-B719-BF29-549A0C48D2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408586-7C29-9E4F-0763-6B0D29BD6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BBAC-0DA1-4590-820C-0AD135B4197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7AD97-EE33-1E18-1353-C7948B34F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FBC523-3C1D-F78F-4551-F89BCDFD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CD71D-2BCA-4284-BBE5-246B1EC60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31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29146-8FDE-2529-B727-0DC2985A8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37B53F-AED0-5AD1-13F9-EA5EEC296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BBAC-0DA1-4590-820C-0AD135B4197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A77289-170D-EB1B-2754-267B715B6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AF4589-ECA3-0692-A5FE-B62845083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CD71D-2BCA-4284-BBE5-246B1EC60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66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6D0148-C41F-F1C0-68E2-913177F9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BBAC-0DA1-4590-820C-0AD135B4197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AB151E-7F11-E683-1018-90DA569EF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64CB6-D7A8-3DB9-BC71-24492FB10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CD71D-2BCA-4284-BBE5-246B1EC60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0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CFC8-711A-D22B-B09A-D0C760C62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77156-3916-CAAD-7D4A-AED542785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415B1-AC3F-2F62-AB51-A4738293F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177D78-CE75-1CD8-EF5B-0555159D6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BBAC-0DA1-4590-820C-0AD135B4197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F071A-9701-989A-71A8-2578B91A6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DC766-B292-2793-62D4-9F8B3E3B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CD71D-2BCA-4284-BBE5-246B1EC60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08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D0D3-E60E-F86E-A828-F16482D77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8EBC38-6955-1122-5DA9-AC49360A2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C0DB2-6522-0DDB-5570-D201FE68D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8B9E3-1791-8C31-6BAE-8A55F13BA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BBAC-0DA1-4590-820C-0AD135B4197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66D03-5BAC-CB15-8050-5C47F8AFE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1EA46-7633-5055-4388-08C500C49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CD71D-2BCA-4284-BBE5-246B1EC60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53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68FCF-897B-C45E-D341-5B570AF04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AA215-6E2C-2B43-0CB3-33A844AB3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B83C-E58D-901B-DAF0-CE09F6F2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BBAC-0DA1-4590-820C-0AD135B4197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2FD86-3706-01A7-3B3E-39FA01CA7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CDDC9-8445-C298-9CF1-825B4860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CD71D-2BCA-4284-BBE5-246B1EC60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35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CE8085-312B-0868-84C0-572E5AFC80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06261-2F90-3840-DC64-DB306ADD7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7B145-9523-7BAB-82A8-F142E6807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BBAC-0DA1-4590-820C-0AD135B4197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E1BA9-FE65-22B6-464A-7EC1CA83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43449-9DA1-1068-AE47-056BA1D39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CD71D-2BCA-4284-BBE5-246B1EC60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531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5C7A13-F789-B00D-CB35-85A0CEE7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36210-D237-A680-41D5-42FD175F6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5B0D7-1BA5-8139-FC89-B2A3787F4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8BBAC-0DA1-4590-820C-0AD135B4197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BC162-D2A2-3967-917E-98D273330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42415-4E3C-95EF-24D0-BF1289A11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ACD71D-2BCA-4284-BBE5-246B1EC60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03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0D988C0-6857-12F3-8335-58693DC05E2E}"/>
              </a:ext>
            </a:extLst>
          </p:cNvPr>
          <p:cNvSpPr/>
          <p:nvPr/>
        </p:nvSpPr>
        <p:spPr>
          <a:xfrm>
            <a:off x="508000" y="508000"/>
            <a:ext cx="5842000" cy="5842000"/>
          </a:xfrm>
          <a:prstGeom prst="ellipse">
            <a:avLst/>
          </a:prstGeom>
          <a:solidFill>
            <a:srgbClr val="1E3D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8FC326F-19AE-3FC8-58ED-F968AD970CD4}"/>
              </a:ext>
            </a:extLst>
          </p:cNvPr>
          <p:cNvSpPr/>
          <p:nvPr/>
        </p:nvSpPr>
        <p:spPr>
          <a:xfrm>
            <a:off x="1097280" y="1717040"/>
            <a:ext cx="38100" cy="232410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B3C708-060F-63D3-A9EF-825EAA626C52}"/>
              </a:ext>
            </a:extLst>
          </p:cNvPr>
          <p:cNvSpPr/>
          <p:nvPr/>
        </p:nvSpPr>
        <p:spPr>
          <a:xfrm>
            <a:off x="1097280" y="2088896"/>
            <a:ext cx="38100" cy="418338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8A04C1-FF7C-9D88-4FBE-ABA19552BF03}"/>
              </a:ext>
            </a:extLst>
          </p:cNvPr>
          <p:cNvSpPr/>
          <p:nvPr/>
        </p:nvSpPr>
        <p:spPr>
          <a:xfrm>
            <a:off x="1097280" y="2600198"/>
            <a:ext cx="38100" cy="418338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711411-1FA6-A9FF-1E7B-4AC2590EA958}"/>
              </a:ext>
            </a:extLst>
          </p:cNvPr>
          <p:cNvSpPr/>
          <p:nvPr/>
        </p:nvSpPr>
        <p:spPr>
          <a:xfrm>
            <a:off x="3335020" y="2181860"/>
            <a:ext cx="38100" cy="604266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CE966E-3610-CB44-1E0E-2EC5819779E8}"/>
              </a:ext>
            </a:extLst>
          </p:cNvPr>
          <p:cNvSpPr/>
          <p:nvPr/>
        </p:nvSpPr>
        <p:spPr>
          <a:xfrm>
            <a:off x="1117600" y="787400"/>
            <a:ext cx="2235200" cy="4648200"/>
          </a:xfrm>
          <a:prstGeom prst="roundRect">
            <a:avLst>
              <a:gd name="adj" fmla="val 165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>
            <a:outerShdw blurRad="203200" dist="88900" dir="5400000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15CD80-3495-DB35-EC3A-DAB3CCCB9C48}"/>
              </a:ext>
            </a:extLst>
          </p:cNvPr>
          <p:cNvSpPr/>
          <p:nvPr/>
        </p:nvSpPr>
        <p:spPr>
          <a:xfrm>
            <a:off x="1145540" y="815340"/>
            <a:ext cx="2179320" cy="4592320"/>
          </a:xfrm>
          <a:prstGeom prst="roundRect">
            <a:avLst>
              <a:gd name="adj" fmla="val 15897"/>
            </a:avLst>
          </a:prstGeom>
          <a:solidFill>
            <a:srgbClr val="0A0A0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41BA10-E5F9-27E1-51BE-D8200BB275FE}"/>
              </a:ext>
            </a:extLst>
          </p:cNvPr>
          <p:cNvSpPr/>
          <p:nvPr/>
        </p:nvSpPr>
        <p:spPr>
          <a:xfrm>
            <a:off x="1188720" y="858520"/>
            <a:ext cx="2092960" cy="4505960"/>
          </a:xfrm>
          <a:prstGeom prst="roundRect">
            <a:avLst>
              <a:gd name="adj" fmla="val 15485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8446AA-4ED9-7919-A91A-2C5279AE859D}"/>
              </a:ext>
            </a:extLst>
          </p:cNvPr>
          <p:cNvSpPr/>
          <p:nvPr/>
        </p:nvSpPr>
        <p:spPr>
          <a:xfrm>
            <a:off x="1889862" y="930615"/>
            <a:ext cx="690676" cy="1988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8FCAC5-721B-49DD-9940-971C41661ADF}"/>
              </a:ext>
            </a:extLst>
          </p:cNvPr>
          <p:cNvSpPr txBox="1"/>
          <p:nvPr/>
        </p:nvSpPr>
        <p:spPr>
          <a:xfrm>
            <a:off x="1377086" y="1012050"/>
            <a:ext cx="460451" cy="1988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24" b="1">
                <a:solidFill>
                  <a:srgbClr val="000000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11:55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0360BA0-77A8-34B8-AB22-FAAA26FBB318}"/>
              </a:ext>
            </a:extLst>
          </p:cNvPr>
          <p:cNvSpPr/>
          <p:nvPr/>
        </p:nvSpPr>
        <p:spPr>
          <a:xfrm>
            <a:off x="2653792" y="1024066"/>
            <a:ext cx="21590" cy="49708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BC23D9-D428-B410-4EE1-2BFC0B727887}"/>
              </a:ext>
            </a:extLst>
          </p:cNvPr>
          <p:cNvSpPr/>
          <p:nvPr/>
        </p:nvSpPr>
        <p:spPr>
          <a:xfrm>
            <a:off x="2686812" y="998218"/>
            <a:ext cx="21590" cy="75556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98B89B7-3F69-EEB6-142D-33EF19BC779D}"/>
              </a:ext>
            </a:extLst>
          </p:cNvPr>
          <p:cNvSpPr/>
          <p:nvPr/>
        </p:nvSpPr>
        <p:spPr>
          <a:xfrm>
            <a:off x="2719832" y="972370"/>
            <a:ext cx="21590" cy="101404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CCB6D5-42AB-F66A-AB59-49725A6F009E}"/>
              </a:ext>
            </a:extLst>
          </p:cNvPr>
          <p:cNvSpPr/>
          <p:nvPr/>
        </p:nvSpPr>
        <p:spPr>
          <a:xfrm>
            <a:off x="2752852" y="946522"/>
            <a:ext cx="21590" cy="127252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F70E3AE-F6B5-846F-FF19-F0D9DF3952DC}"/>
              </a:ext>
            </a:extLst>
          </p:cNvPr>
          <p:cNvSpPr/>
          <p:nvPr/>
        </p:nvSpPr>
        <p:spPr>
          <a:xfrm>
            <a:off x="2863088" y="986288"/>
            <a:ext cx="177902" cy="93451"/>
          </a:xfrm>
          <a:prstGeom prst="roundRect">
            <a:avLst>
              <a:gd name="adj" fmla="val 29898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527" b="1">
                <a:solidFill>
                  <a:srgbClr val="FFFFFF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89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80AE302-02ED-4F60-4D36-BEE1EA8647E2}"/>
              </a:ext>
            </a:extLst>
          </p:cNvPr>
          <p:cNvSpPr/>
          <p:nvPr/>
        </p:nvSpPr>
        <p:spPr>
          <a:xfrm>
            <a:off x="3046070" y="1014124"/>
            <a:ext cx="13970" cy="39767"/>
          </a:xfrm>
          <a:prstGeom prst="roundRect">
            <a:avLst>
              <a:gd name="adj" fmla="val 45455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7619A8A-3767-55AD-5354-3521BC05E090}"/>
              </a:ext>
            </a:extLst>
          </p:cNvPr>
          <p:cNvSpPr/>
          <p:nvPr/>
        </p:nvSpPr>
        <p:spPr>
          <a:xfrm>
            <a:off x="2078228" y="1237590"/>
            <a:ext cx="313944" cy="313944"/>
          </a:xfrm>
          <a:prstGeom prst="ellipse">
            <a:avLst/>
          </a:prstGeom>
          <a:solidFill>
            <a:srgbClr val="A4AAB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E56950-4393-4E9E-2F64-0D8EC9F60EF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017" y="1294099"/>
            <a:ext cx="188366" cy="188366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0231994-67A9-FCD3-8B4D-2532F8AB40CE}"/>
              </a:ext>
            </a:extLst>
          </p:cNvPr>
          <p:cNvSpPr/>
          <p:nvPr/>
        </p:nvSpPr>
        <p:spPr>
          <a:xfrm>
            <a:off x="1711960" y="1583284"/>
            <a:ext cx="1046480" cy="156972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9" b="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0983 000 2892  ›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F862152-2E51-3019-5CEA-F91B3B08E3DE}"/>
              </a:ext>
            </a:extLst>
          </p:cNvPr>
          <p:cNvSpPr/>
          <p:nvPr/>
        </p:nvSpPr>
        <p:spPr>
          <a:xfrm>
            <a:off x="1293368" y="1262990"/>
            <a:ext cx="293014" cy="293014"/>
          </a:xfrm>
          <a:prstGeom prst="ellipse">
            <a:avLst/>
          </a:prstGeom>
          <a:solidFill>
            <a:srgbClr val="F2F2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648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‹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B85C785-5886-8830-13E9-54324781F217}"/>
              </a:ext>
            </a:extLst>
          </p:cNvPr>
          <p:cNvSpPr/>
          <p:nvPr/>
        </p:nvSpPr>
        <p:spPr>
          <a:xfrm>
            <a:off x="1858467" y="5265349"/>
            <a:ext cx="753466" cy="330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08ECF1-73F1-D168-0843-A02E748CABB6}"/>
              </a:ext>
            </a:extLst>
          </p:cNvPr>
          <p:cNvSpPr/>
          <p:nvPr/>
        </p:nvSpPr>
        <p:spPr>
          <a:xfrm>
            <a:off x="1272438" y="4842820"/>
            <a:ext cx="219761" cy="219761"/>
          </a:xfrm>
          <a:prstGeom prst="ellipse">
            <a:avLst/>
          </a:prstGeom>
          <a:solidFill>
            <a:srgbClr val="F2F2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36">
                <a:solidFill>
                  <a:srgbClr val="3C3C4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+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DB50E3E-26C7-42E5-1082-E9E70FEB5DF0}"/>
              </a:ext>
            </a:extLst>
          </p:cNvPr>
          <p:cNvSpPr/>
          <p:nvPr/>
        </p:nvSpPr>
        <p:spPr>
          <a:xfrm>
            <a:off x="1542999" y="4842820"/>
            <a:ext cx="1654963" cy="21976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 cap="flat" cmpd="sng" algn="ctr">
            <a:solidFill>
              <a:srgbClr val="D1D1D6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0" rIns="0" bIns="0" rtlCol="0" anchor="ctr"/>
          <a:lstStyle/>
          <a:p>
            <a:r>
              <a:rPr lang="en-US" sz="692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Text Message • SMS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E99CB22-F1F1-1D92-DE28-0E09F5D3E901}"/>
              </a:ext>
            </a:extLst>
          </p:cNvPr>
          <p:cNvSpPr/>
          <p:nvPr/>
        </p:nvSpPr>
        <p:spPr>
          <a:xfrm>
            <a:off x="1282903" y="1888516"/>
            <a:ext cx="1758087" cy="753044"/>
          </a:xfrm>
          <a:prstGeom prst="roundRect">
            <a:avLst>
              <a:gd name="adj" fmla="val 15178"/>
            </a:avLst>
          </a:prstGeom>
          <a:solidFill>
            <a:srgbClr val="E9E9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t">
            <a:spAutoFit/>
          </a:bodyPr>
          <a:lstStyle/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کد تایید شما: </a:t>
            </a:r>
            <a:r>
              <a:rPr lang="ar-SA" sz="791" u="sng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848024</a:t>
            </a:r>
          </a:p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سامانه احراز اصالت سند و قبض انبار</a:t>
            </a:r>
          </a:p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اداره کل بنادر و دریانوردی استان هرمزگان</a:t>
            </a:r>
          </a:p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1405/08/03 10:36:13 ق.ظ</a:t>
            </a:r>
            <a:endParaRPr lang="en-US" sz="791">
              <a:solidFill>
                <a:srgbClr val="1C1C1E"/>
              </a:solidFill>
              <a:latin typeface="Segoe UI" panose="020B0502040204020203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E1EAEF-D13D-8347-24A1-D85EB9A265F4}"/>
              </a:ext>
            </a:extLst>
          </p:cNvPr>
          <p:cNvSpPr txBox="1"/>
          <p:nvPr/>
        </p:nvSpPr>
        <p:spPr>
          <a:xfrm>
            <a:off x="1188720" y="2717760"/>
            <a:ext cx="2092960" cy="1824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593" b="1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Text Message</a:t>
            </a:r>
          </a:p>
          <a:p>
            <a:pPr algn="ctr"/>
            <a:r>
              <a:rPr lang="en-US" sz="593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Today 10:37 AM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415BFF9-9099-166B-6312-E8E407115E78}"/>
              </a:ext>
            </a:extLst>
          </p:cNvPr>
          <p:cNvSpPr/>
          <p:nvPr/>
        </p:nvSpPr>
        <p:spPr>
          <a:xfrm>
            <a:off x="1282903" y="2944696"/>
            <a:ext cx="1758087" cy="753044"/>
          </a:xfrm>
          <a:prstGeom prst="roundRect">
            <a:avLst>
              <a:gd name="adj" fmla="val 15178"/>
            </a:avLst>
          </a:prstGeom>
          <a:solidFill>
            <a:srgbClr val="E9E9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t">
            <a:spAutoFit/>
          </a:bodyPr>
          <a:lstStyle/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کد تایید شما: </a:t>
            </a:r>
            <a:r>
              <a:rPr lang="ar-SA" sz="791" u="sng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481353</a:t>
            </a:r>
          </a:p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سامانه احراز اصالت سند و قبض انبار</a:t>
            </a:r>
          </a:p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اداره کل بنادر و دریانوردی استان هرمزگان</a:t>
            </a:r>
          </a:p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1405/08/03 10:37:13 ق.ظ</a:t>
            </a:r>
            <a:endParaRPr lang="en-US" sz="791">
              <a:solidFill>
                <a:srgbClr val="1C1C1E"/>
              </a:solidFill>
              <a:latin typeface="Segoe UI" panose="020B0502040204020203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844B37-CAA3-02BF-C218-318F2C9F1E98}"/>
              </a:ext>
            </a:extLst>
          </p:cNvPr>
          <p:cNvSpPr txBox="1"/>
          <p:nvPr/>
        </p:nvSpPr>
        <p:spPr>
          <a:xfrm>
            <a:off x="1188720" y="3773940"/>
            <a:ext cx="2092960" cy="1824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593" b="1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Text Message</a:t>
            </a:r>
          </a:p>
          <a:p>
            <a:pPr algn="ctr"/>
            <a:r>
              <a:rPr lang="en-US" sz="593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Today 11:46 AM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2535FD7-631D-00EF-8C2F-E6C31F0AD4FB}"/>
              </a:ext>
            </a:extLst>
          </p:cNvPr>
          <p:cNvSpPr/>
          <p:nvPr/>
        </p:nvSpPr>
        <p:spPr>
          <a:xfrm>
            <a:off x="1282903" y="4000876"/>
            <a:ext cx="1758087" cy="753044"/>
          </a:xfrm>
          <a:prstGeom prst="roundRect">
            <a:avLst>
              <a:gd name="adj" fmla="val 15178"/>
            </a:avLst>
          </a:prstGeom>
          <a:solidFill>
            <a:srgbClr val="E9E9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t">
            <a:spAutoFit/>
          </a:bodyPr>
          <a:lstStyle/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کد تایید شما: </a:t>
            </a:r>
            <a:r>
              <a:rPr lang="ar-SA" sz="791" u="sng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114076</a:t>
            </a:r>
          </a:p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سامانه احراز اصالت سند و قبض انبار</a:t>
            </a:r>
          </a:p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اداره کل بنادر و دریانوردی استان هرمزگان</a:t>
            </a:r>
          </a:p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1405/08/03 11:46:29 ق.ظ</a:t>
            </a:r>
            <a:endParaRPr lang="en-US" sz="791">
              <a:solidFill>
                <a:srgbClr val="1C1C1E"/>
              </a:solidFill>
              <a:latin typeface="Segoe UI" panose="020B0502040204020203" pitchFamily="34" charset="0"/>
              <a:cs typeface="Tahoma" panose="020B060403050404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5FCB7FF-8067-A655-3471-721974DD199F}"/>
              </a:ext>
            </a:extLst>
          </p:cNvPr>
          <p:cNvSpPr/>
          <p:nvPr/>
        </p:nvSpPr>
        <p:spPr>
          <a:xfrm>
            <a:off x="3561080" y="2352040"/>
            <a:ext cx="38100" cy="232410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74A6457-BCF4-8E8C-4C72-4CA89021D2A3}"/>
              </a:ext>
            </a:extLst>
          </p:cNvPr>
          <p:cNvSpPr/>
          <p:nvPr/>
        </p:nvSpPr>
        <p:spPr>
          <a:xfrm>
            <a:off x="3561080" y="2723896"/>
            <a:ext cx="38100" cy="418338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346861A-86AE-707A-5545-93033C0AADE9}"/>
              </a:ext>
            </a:extLst>
          </p:cNvPr>
          <p:cNvSpPr/>
          <p:nvPr/>
        </p:nvSpPr>
        <p:spPr>
          <a:xfrm>
            <a:off x="3561080" y="3235198"/>
            <a:ext cx="38100" cy="418338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61E56E7-C2B9-056D-C070-9DC77AA3A644}"/>
              </a:ext>
            </a:extLst>
          </p:cNvPr>
          <p:cNvSpPr/>
          <p:nvPr/>
        </p:nvSpPr>
        <p:spPr>
          <a:xfrm>
            <a:off x="5798820" y="2816860"/>
            <a:ext cx="38100" cy="604266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CB96322-71A9-C38E-27BC-E50B6047F8D0}"/>
              </a:ext>
            </a:extLst>
          </p:cNvPr>
          <p:cNvSpPr/>
          <p:nvPr/>
        </p:nvSpPr>
        <p:spPr>
          <a:xfrm>
            <a:off x="3581400" y="1422400"/>
            <a:ext cx="2235200" cy="4648200"/>
          </a:xfrm>
          <a:prstGeom prst="roundRect">
            <a:avLst>
              <a:gd name="adj" fmla="val 165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>
            <a:outerShdw blurRad="203200" dist="88900" dir="5400000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DAD37CB-C828-AFD3-B99F-FBF3B9C043DA}"/>
              </a:ext>
            </a:extLst>
          </p:cNvPr>
          <p:cNvSpPr/>
          <p:nvPr/>
        </p:nvSpPr>
        <p:spPr>
          <a:xfrm>
            <a:off x="3609340" y="1450340"/>
            <a:ext cx="2179320" cy="4592320"/>
          </a:xfrm>
          <a:prstGeom prst="roundRect">
            <a:avLst>
              <a:gd name="adj" fmla="val 15897"/>
            </a:avLst>
          </a:prstGeom>
          <a:solidFill>
            <a:srgbClr val="0A0A0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ECA136D-2DE9-15C1-DBF4-0BDC3BCEA7B9}"/>
              </a:ext>
            </a:extLst>
          </p:cNvPr>
          <p:cNvSpPr/>
          <p:nvPr/>
        </p:nvSpPr>
        <p:spPr>
          <a:xfrm>
            <a:off x="3652520" y="1493520"/>
            <a:ext cx="2092960" cy="4505960"/>
          </a:xfrm>
          <a:prstGeom prst="roundRect">
            <a:avLst>
              <a:gd name="adj" fmla="val 15485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E4B0DDF-1638-3AE6-A85D-3B518B5B241C}"/>
              </a:ext>
            </a:extLst>
          </p:cNvPr>
          <p:cNvSpPr/>
          <p:nvPr/>
        </p:nvSpPr>
        <p:spPr>
          <a:xfrm>
            <a:off x="4353662" y="1565615"/>
            <a:ext cx="690677" cy="1988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4136EF-1DE9-719F-E1F6-870450FE82B5}"/>
              </a:ext>
            </a:extLst>
          </p:cNvPr>
          <p:cNvSpPr txBox="1"/>
          <p:nvPr/>
        </p:nvSpPr>
        <p:spPr>
          <a:xfrm>
            <a:off x="3840886" y="1647050"/>
            <a:ext cx="460451" cy="1988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24" b="1">
                <a:solidFill>
                  <a:srgbClr val="000000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11:56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6D61345-EB61-B352-A0F1-66BEACF322EE}"/>
              </a:ext>
            </a:extLst>
          </p:cNvPr>
          <p:cNvSpPr/>
          <p:nvPr/>
        </p:nvSpPr>
        <p:spPr>
          <a:xfrm>
            <a:off x="5117592" y="1659066"/>
            <a:ext cx="21590" cy="49708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D4EB84E-02A6-A605-78B1-709E039A1BD1}"/>
              </a:ext>
            </a:extLst>
          </p:cNvPr>
          <p:cNvSpPr/>
          <p:nvPr/>
        </p:nvSpPr>
        <p:spPr>
          <a:xfrm>
            <a:off x="5150612" y="1633218"/>
            <a:ext cx="21590" cy="75556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D279D3D-6327-FA67-1473-0A211AF51AA8}"/>
              </a:ext>
            </a:extLst>
          </p:cNvPr>
          <p:cNvSpPr/>
          <p:nvPr/>
        </p:nvSpPr>
        <p:spPr>
          <a:xfrm>
            <a:off x="5183632" y="1607370"/>
            <a:ext cx="21590" cy="101404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E5FEA9A-2140-D5C4-FC60-1EFF5AD51CFC}"/>
              </a:ext>
            </a:extLst>
          </p:cNvPr>
          <p:cNvSpPr/>
          <p:nvPr/>
        </p:nvSpPr>
        <p:spPr>
          <a:xfrm>
            <a:off x="5216652" y="1581522"/>
            <a:ext cx="21590" cy="127252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2F42919-A2A8-C135-52BC-467F1A6FE31F}"/>
              </a:ext>
            </a:extLst>
          </p:cNvPr>
          <p:cNvSpPr/>
          <p:nvPr/>
        </p:nvSpPr>
        <p:spPr>
          <a:xfrm>
            <a:off x="5326888" y="1621288"/>
            <a:ext cx="177902" cy="93451"/>
          </a:xfrm>
          <a:prstGeom prst="roundRect">
            <a:avLst>
              <a:gd name="adj" fmla="val 29898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527" b="1">
                <a:solidFill>
                  <a:srgbClr val="FFFFFF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89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1CC0347-8E2C-61E2-DC66-62052FD35B49}"/>
              </a:ext>
            </a:extLst>
          </p:cNvPr>
          <p:cNvSpPr/>
          <p:nvPr/>
        </p:nvSpPr>
        <p:spPr>
          <a:xfrm>
            <a:off x="5509869" y="1649125"/>
            <a:ext cx="13971" cy="39766"/>
          </a:xfrm>
          <a:prstGeom prst="roundRect">
            <a:avLst>
              <a:gd name="adj" fmla="val 45455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A275197-F915-49DD-51BA-8B49F898898A}"/>
              </a:ext>
            </a:extLst>
          </p:cNvPr>
          <p:cNvSpPr/>
          <p:nvPr/>
        </p:nvSpPr>
        <p:spPr>
          <a:xfrm>
            <a:off x="4542028" y="1872590"/>
            <a:ext cx="313944" cy="313944"/>
          </a:xfrm>
          <a:prstGeom prst="ellipse">
            <a:avLst/>
          </a:prstGeom>
          <a:solidFill>
            <a:srgbClr val="A4AAB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168EA90D-D313-8854-42D5-EF73C99BD1F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817" y="1929099"/>
            <a:ext cx="188366" cy="188366"/>
          </a:xfrm>
          <a:prstGeom prst="rect">
            <a:avLst/>
          </a:prstGeom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AEBA3F0-1C67-2313-FEF6-A285BD2EFBF3}"/>
              </a:ext>
            </a:extLst>
          </p:cNvPr>
          <p:cNvSpPr/>
          <p:nvPr/>
        </p:nvSpPr>
        <p:spPr>
          <a:xfrm>
            <a:off x="4175760" y="2218284"/>
            <a:ext cx="1046480" cy="156972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9" b="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0983 000 2892  ›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16E8F5A-0A4C-2540-9360-B6996FD5DDC9}"/>
              </a:ext>
            </a:extLst>
          </p:cNvPr>
          <p:cNvSpPr/>
          <p:nvPr/>
        </p:nvSpPr>
        <p:spPr>
          <a:xfrm>
            <a:off x="3757168" y="1897990"/>
            <a:ext cx="293014" cy="293014"/>
          </a:xfrm>
          <a:prstGeom prst="ellipse">
            <a:avLst/>
          </a:prstGeom>
          <a:solidFill>
            <a:srgbClr val="F2F2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648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‹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BC13D68-3259-D48A-6E11-C6E76F7540FE}"/>
              </a:ext>
            </a:extLst>
          </p:cNvPr>
          <p:cNvSpPr/>
          <p:nvPr/>
        </p:nvSpPr>
        <p:spPr>
          <a:xfrm>
            <a:off x="4322267" y="5900349"/>
            <a:ext cx="753466" cy="330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932996C-4E81-4F76-A7AA-B8EFD5D93B4A}"/>
              </a:ext>
            </a:extLst>
          </p:cNvPr>
          <p:cNvSpPr/>
          <p:nvPr/>
        </p:nvSpPr>
        <p:spPr>
          <a:xfrm>
            <a:off x="3736238" y="5477820"/>
            <a:ext cx="219761" cy="219761"/>
          </a:xfrm>
          <a:prstGeom prst="ellipse">
            <a:avLst/>
          </a:prstGeom>
          <a:solidFill>
            <a:srgbClr val="F2F2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36">
                <a:solidFill>
                  <a:srgbClr val="3C3C4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+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F1ADBB5-2E80-E9D5-F30D-C3AC17FFF50C}"/>
              </a:ext>
            </a:extLst>
          </p:cNvPr>
          <p:cNvSpPr/>
          <p:nvPr/>
        </p:nvSpPr>
        <p:spPr>
          <a:xfrm>
            <a:off x="4006799" y="5477820"/>
            <a:ext cx="1654962" cy="21976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 cap="flat" cmpd="sng" algn="ctr">
            <a:solidFill>
              <a:srgbClr val="D1D1D6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0" rIns="0" bIns="0" rtlCol="0" anchor="ctr"/>
          <a:lstStyle/>
          <a:p>
            <a:r>
              <a:rPr lang="en-US" sz="692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Text Message • SMS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C63FEB-E6BB-BA2B-AE6C-1BDA48D810E1}"/>
              </a:ext>
            </a:extLst>
          </p:cNvPr>
          <p:cNvSpPr txBox="1"/>
          <p:nvPr/>
        </p:nvSpPr>
        <p:spPr>
          <a:xfrm>
            <a:off x="3652520" y="3099818"/>
            <a:ext cx="2092960" cy="1824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593" b="1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Text Message</a:t>
            </a:r>
          </a:p>
          <a:p>
            <a:pPr algn="ctr"/>
            <a:r>
              <a:rPr lang="en-US" sz="593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Today 11:48 AM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9D40B6B-1319-D4E6-E3A7-D4FD47202886}"/>
              </a:ext>
            </a:extLst>
          </p:cNvPr>
          <p:cNvSpPr/>
          <p:nvPr/>
        </p:nvSpPr>
        <p:spPr>
          <a:xfrm>
            <a:off x="3746703" y="3326754"/>
            <a:ext cx="1758087" cy="1008858"/>
          </a:xfrm>
          <a:prstGeom prst="roundRect">
            <a:avLst>
              <a:gd name="adj" fmla="val 11330"/>
            </a:avLst>
          </a:prstGeom>
          <a:solidFill>
            <a:srgbClr val="E9E9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t">
            <a:spAutoFit/>
          </a:bodyPr>
          <a:lstStyle/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کاربر گرامی، درخواست نوبت ارزیابی شما برای محوطه شرکت افق با موفقیت ثبت شد.</a:t>
            </a:r>
          </a:p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کد پیگیری: </a:t>
            </a:r>
            <a:r>
              <a:rPr lang="en-US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REQ00020268</a:t>
            </a:r>
          </a:p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اداره کل بنادر و دریانوردی استان هرمزگان</a:t>
            </a:r>
          </a:p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1405/08/03 11:48:02 ق.ظ</a:t>
            </a:r>
            <a:endParaRPr lang="en-US" sz="791">
              <a:solidFill>
                <a:srgbClr val="1C1C1E"/>
              </a:solidFill>
              <a:latin typeface="Segoe UI" panose="020B0502040204020203" pitchFamily="34" charset="0"/>
              <a:cs typeface="Tahoma" panose="020B0604030504040204" pitchFamily="34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FE276ED-4903-2129-3726-4919804E28C2}"/>
              </a:ext>
            </a:extLst>
          </p:cNvPr>
          <p:cNvSpPr/>
          <p:nvPr/>
        </p:nvSpPr>
        <p:spPr>
          <a:xfrm>
            <a:off x="3746703" y="4380062"/>
            <a:ext cx="1758087" cy="1008858"/>
          </a:xfrm>
          <a:prstGeom prst="roundRect">
            <a:avLst>
              <a:gd name="adj" fmla="val 11330"/>
            </a:avLst>
          </a:prstGeom>
          <a:solidFill>
            <a:srgbClr val="E9E9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t">
            <a:spAutoFit/>
          </a:bodyPr>
          <a:lstStyle/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کاربر گرامی، نوبت ارزیابی شما در محوطه شرکت افق روز یکشنبه ۱۰ آبان ۱۴۰۵ ساعت ۱۸:۰۰ تعیین شد.</a:t>
            </a:r>
          </a:p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کد پیگیری: </a:t>
            </a:r>
            <a:r>
              <a:rPr lang="en-US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REQ00020268</a:t>
            </a:r>
          </a:p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اداره کل بنادر و دریانوردی استان هرمزگان</a:t>
            </a:r>
          </a:p>
          <a:p>
            <a:pPr algn="r" rtl="1">
              <a:lnSpc>
                <a:spcPct val="95000"/>
              </a:lnSpc>
            </a:pPr>
            <a:r>
              <a:rPr lang="ar-SA" sz="79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1405/08/03 11:51:10 ق.ظ</a:t>
            </a:r>
            <a:endParaRPr lang="en-US" sz="791">
              <a:solidFill>
                <a:srgbClr val="1C1C1E"/>
              </a:solidFill>
              <a:latin typeface="Segoe UI" panose="020B0502040204020203" pitchFamily="34" charset="0"/>
              <a:cs typeface="Tahoma" panose="020B0604030504040204" pitchFamily="34" charset="0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ACD242C-3367-3F39-55F4-B843DF7B6A6E}"/>
              </a:ext>
            </a:extLst>
          </p:cNvPr>
          <p:cNvSpPr/>
          <p:nvPr/>
        </p:nvSpPr>
        <p:spPr>
          <a:xfrm>
            <a:off x="8890000" y="1168400"/>
            <a:ext cx="2794000" cy="431800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6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معرفی سامانه</a:t>
            </a:r>
            <a:endParaRPr lang="en-US" sz="16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52DE22-CC56-44D6-E840-2C3AE8416A04}"/>
              </a:ext>
            </a:extLst>
          </p:cNvPr>
          <p:cNvSpPr txBox="1"/>
          <p:nvPr/>
        </p:nvSpPr>
        <p:spPr>
          <a:xfrm>
            <a:off x="6350000" y="1777999"/>
            <a:ext cx="5334000" cy="172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4400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سامانه احراز اصالت</a:t>
            </a:r>
          </a:p>
          <a:p>
            <a:pPr algn="r" rtl="1"/>
            <a:r>
              <a:rPr lang="ar-SA" sz="4400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سند و قبض انبار</a:t>
            </a:r>
            <a:endParaRPr lang="en-US" sz="4400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DC74F93-8C7B-ADEB-B9A1-71E077EC72F4}"/>
              </a:ext>
            </a:extLst>
          </p:cNvPr>
          <p:cNvSpPr txBox="1"/>
          <p:nvPr/>
        </p:nvSpPr>
        <p:spPr>
          <a:xfrm>
            <a:off x="6350000" y="3632200"/>
            <a:ext cx="53340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600" b="1">
                <a:solidFill>
                  <a:srgbClr val="F6AE2D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ثبت قبض انبار · نوبت‌دهی ارزیابی</a:t>
            </a:r>
            <a:endParaRPr lang="en-US" sz="2600" b="1">
              <a:solidFill>
                <a:srgbClr val="F6AE2D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9664F18-6BF1-786F-88FA-C3D05567E1CE}"/>
              </a:ext>
            </a:extLst>
          </p:cNvPr>
          <p:cNvSpPr txBox="1"/>
          <p:nvPr/>
        </p:nvSpPr>
        <p:spPr>
          <a:xfrm>
            <a:off x="6350000" y="4191000"/>
            <a:ext cx="5334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ثبت آنلاین، استعلام خودکار و اطلاع‌رسانی پیامکی</a:t>
            </a:r>
            <a:endParaRPr lang="en-US" sz="19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CC5136E-6886-9135-7021-2C2BB1C454B4}"/>
              </a:ext>
            </a:extLst>
          </p:cNvPr>
          <p:cNvSpPr txBox="1"/>
          <p:nvPr/>
        </p:nvSpPr>
        <p:spPr>
          <a:xfrm>
            <a:off x="6350000" y="5334000"/>
            <a:ext cx="5334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اداره کل بنادر و دریانوردی استان هرمزگان</a:t>
            </a:r>
            <a:endParaRPr lang="en-US" sz="1900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549058C-E11F-4851-DB31-3CA20909AA6C}"/>
              </a:ext>
            </a:extLst>
          </p:cNvPr>
          <p:cNvSpPr txBox="1"/>
          <p:nvPr/>
        </p:nvSpPr>
        <p:spPr>
          <a:xfrm>
            <a:off x="6350000" y="5740400"/>
            <a:ext cx="5334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۳ آبان ۱۴۰۵</a:t>
            </a:r>
            <a:endParaRPr lang="en-US" sz="17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13968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50D5FC-22EC-BCBD-9986-CFF51AE441F0}"/>
              </a:ext>
            </a:extLst>
          </p:cNvPr>
          <p:cNvSpPr txBox="1"/>
          <p:nvPr/>
        </p:nvSpPr>
        <p:spPr>
          <a:xfrm>
            <a:off x="2540000" y="279400"/>
            <a:ext cx="9144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34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کاربرد سامانه</a:t>
            </a:r>
            <a:endParaRPr lang="en-US" sz="34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CBB2DD-B92A-B8D2-8D74-90EBF854E265}"/>
              </a:ext>
            </a:extLst>
          </p:cNvPr>
          <p:cNvSpPr txBox="1"/>
          <p:nvPr/>
        </p:nvSpPr>
        <p:spPr>
          <a:xfrm>
            <a:off x="508000" y="965199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درخواست‌های بندری را از مراجعه‌ی حضوری و بررسی دستی، به یک مسیر آنلاین، سریع و قابل‌اعتماد می‌برد</a:t>
            </a:r>
            <a:endParaRPr lang="en-US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585EA2-DA27-598B-09D7-DFC5C1705BE1}"/>
              </a:ext>
            </a:extLst>
          </p:cNvPr>
          <p:cNvSpPr/>
          <p:nvPr/>
        </p:nvSpPr>
        <p:spPr>
          <a:xfrm>
            <a:off x="6223000" y="1498600"/>
            <a:ext cx="5461000" cy="4470400"/>
          </a:xfrm>
          <a:prstGeom prst="roundRect">
            <a:avLst>
              <a:gd name="adj" fmla="val 4545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65491F6-4C3E-9A5A-5FBC-BCB01872878E}"/>
              </a:ext>
            </a:extLst>
          </p:cNvPr>
          <p:cNvSpPr/>
          <p:nvPr/>
        </p:nvSpPr>
        <p:spPr>
          <a:xfrm>
            <a:off x="10871200" y="1752600"/>
            <a:ext cx="558800" cy="5588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E980C0-938E-D7A9-5794-5FF45D051C4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548" y="1869948"/>
            <a:ext cx="324104" cy="3241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B30973-041A-CE6E-6703-CE1D372E4098}"/>
              </a:ext>
            </a:extLst>
          </p:cNvPr>
          <p:cNvSpPr txBox="1"/>
          <p:nvPr/>
        </p:nvSpPr>
        <p:spPr>
          <a:xfrm>
            <a:off x="7112000" y="1828800"/>
            <a:ext cx="360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2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بدون سامانه</a:t>
            </a:r>
            <a:endParaRPr lang="en-US" sz="22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E4DFA5-BE42-43A0-B64D-D201A88D4A57}"/>
              </a:ext>
            </a:extLst>
          </p:cNvPr>
          <p:cNvSpPr/>
          <p:nvPr/>
        </p:nvSpPr>
        <p:spPr>
          <a:xfrm>
            <a:off x="508000" y="1498600"/>
            <a:ext cx="5461000" cy="4470400"/>
          </a:xfrm>
          <a:prstGeom prst="roundRect">
            <a:avLst>
              <a:gd name="adj" fmla="val 4545"/>
            </a:avLst>
          </a:prstGeom>
          <a:solidFill>
            <a:srgbClr val="13294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0104C0E-2948-5890-89EE-65EB5061B0A3}"/>
              </a:ext>
            </a:extLst>
          </p:cNvPr>
          <p:cNvSpPr/>
          <p:nvPr/>
        </p:nvSpPr>
        <p:spPr>
          <a:xfrm>
            <a:off x="5156200" y="1752600"/>
            <a:ext cx="558800" cy="5588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EDC4CF-37F3-65D1-C544-BF4659E3E86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548" y="1869948"/>
            <a:ext cx="324104" cy="3241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FECBCC5-D517-4258-9BDE-11696B80D1E4}"/>
              </a:ext>
            </a:extLst>
          </p:cNvPr>
          <p:cNvSpPr txBox="1"/>
          <p:nvPr/>
        </p:nvSpPr>
        <p:spPr>
          <a:xfrm>
            <a:off x="1397000" y="1828800"/>
            <a:ext cx="360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200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با این سامانه</a:t>
            </a:r>
            <a:endParaRPr lang="en-US" sz="2200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98AAB5-A6A4-C3EA-12E4-D3C7821AE16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2768600"/>
            <a:ext cx="279400" cy="279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8E06B22-2850-A3D8-50AB-CF3EB0143AF6}"/>
              </a:ext>
            </a:extLst>
          </p:cNvPr>
          <p:cNvSpPr txBox="1"/>
          <p:nvPr/>
        </p:nvSpPr>
        <p:spPr>
          <a:xfrm>
            <a:off x="6477000" y="2717800"/>
            <a:ext cx="4419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مراجعه‌ی حضوری و انتظار در صف</a:t>
            </a:r>
            <a:endParaRPr lang="en-US" sz="17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2C31ACF-3F7E-0789-D41C-1F51F950BFBC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2768600"/>
            <a:ext cx="279400" cy="279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89D0436-4A78-605D-15E6-28807D170820}"/>
              </a:ext>
            </a:extLst>
          </p:cNvPr>
          <p:cNvSpPr txBox="1"/>
          <p:nvPr/>
        </p:nvSpPr>
        <p:spPr>
          <a:xfrm>
            <a:off x="762000" y="2717800"/>
            <a:ext cx="4419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ثبت درخواست با گوشی، در چند دقیقه</a:t>
            </a:r>
            <a:endParaRPr lang="en-US" sz="1700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B2455E3-04E7-19D9-81F2-5C4610F7105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3556000"/>
            <a:ext cx="279400" cy="279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EE08FA0-7193-6BD6-8294-29415EB298B1}"/>
              </a:ext>
            </a:extLst>
          </p:cNvPr>
          <p:cNvSpPr txBox="1"/>
          <p:nvPr/>
        </p:nvSpPr>
        <p:spPr>
          <a:xfrm>
            <a:off x="6477000" y="3505200"/>
            <a:ext cx="4419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بررسی دستی هویت و سند، با احتمال خطا</a:t>
            </a:r>
            <a:endParaRPr lang="en-US" sz="17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87BBD68-24EC-E1D0-E19C-C8184E68D13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3556000"/>
            <a:ext cx="279400" cy="279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9755659-1C8C-1E77-BD72-A115172C9C52}"/>
              </a:ext>
            </a:extLst>
          </p:cNvPr>
          <p:cNvSpPr txBox="1"/>
          <p:nvPr/>
        </p:nvSpPr>
        <p:spPr>
          <a:xfrm>
            <a:off x="762000" y="3505200"/>
            <a:ext cx="4419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استعلام خودکار هویت، سند و قبض انبار</a:t>
            </a:r>
            <a:endParaRPr lang="en-US" sz="1700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17A7C16-F61A-163E-E5EC-879728102D0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4343400"/>
            <a:ext cx="279400" cy="279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2DA5F50-F15A-5FD5-C633-83F40616C44F}"/>
              </a:ext>
            </a:extLst>
          </p:cNvPr>
          <p:cNvSpPr txBox="1"/>
          <p:nvPr/>
        </p:nvSpPr>
        <p:spPr>
          <a:xfrm>
            <a:off x="6477000" y="4292600"/>
            <a:ext cx="4419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خطر سند جعلی یا وکالت‌نامه‌ی نامعتبر</a:t>
            </a:r>
            <a:endParaRPr lang="en-US" sz="17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7923FC7-2C63-0219-C51A-8AE54898C025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4343400"/>
            <a:ext cx="279400" cy="279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9B9FA90-A71C-275F-062B-8D7B8AC69985}"/>
              </a:ext>
            </a:extLst>
          </p:cNvPr>
          <p:cNvSpPr txBox="1"/>
          <p:nvPr/>
        </p:nvSpPr>
        <p:spPr>
          <a:xfrm>
            <a:off x="762000" y="4292600"/>
            <a:ext cx="4419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رد خودکار موارد نامعتبر، پیش از کارشناس</a:t>
            </a:r>
            <a:endParaRPr lang="en-US" sz="1700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61732D8-7698-1492-9D24-534A76521FA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5130800"/>
            <a:ext cx="279400" cy="279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1F8D504-1D4E-FC60-A0B1-BE5E968A776D}"/>
              </a:ext>
            </a:extLst>
          </p:cNvPr>
          <p:cNvSpPr txBox="1"/>
          <p:nvPr/>
        </p:nvSpPr>
        <p:spPr>
          <a:xfrm>
            <a:off x="6477000" y="5080000"/>
            <a:ext cx="4419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پیگیری تلفنی و بی‌خبری از نتیجه</a:t>
            </a:r>
            <a:endParaRPr lang="en-US" sz="17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B6DB196-CF7D-508D-5F8C-68B745977F6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130800"/>
            <a:ext cx="279400" cy="279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6CD027C-17AE-4689-C3FA-1D5613076583}"/>
              </a:ext>
            </a:extLst>
          </p:cNvPr>
          <p:cNvSpPr txBox="1"/>
          <p:nvPr/>
        </p:nvSpPr>
        <p:spPr>
          <a:xfrm>
            <a:off x="762000" y="5080000"/>
            <a:ext cx="4419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پیامک در هر مرحله و پیگیری با کد</a:t>
            </a:r>
            <a:endParaRPr lang="en-US" sz="1700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DD01194-ED16-91F3-BC9B-44F0047ED88C}"/>
              </a:ext>
            </a:extLst>
          </p:cNvPr>
          <p:cNvSpPr/>
          <p:nvPr/>
        </p:nvSpPr>
        <p:spPr>
          <a:xfrm>
            <a:off x="5778500" y="3416300"/>
            <a:ext cx="635000" cy="6350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Left 38">
            <a:extLst>
              <a:ext uri="{FF2B5EF4-FFF2-40B4-BE49-F238E27FC236}">
                <a16:creationId xmlns:a16="http://schemas.microsoft.com/office/drawing/2014/main" id="{7C35D197-CF6A-18E3-CB90-A382E4578873}"/>
              </a:ext>
            </a:extLst>
          </p:cNvPr>
          <p:cNvSpPr/>
          <p:nvPr/>
        </p:nvSpPr>
        <p:spPr>
          <a:xfrm>
            <a:off x="5930900" y="3619500"/>
            <a:ext cx="330200" cy="228600"/>
          </a:xfrm>
          <a:prstGeom prst="leftArrow">
            <a:avLst/>
          </a:prstGeom>
          <a:solidFill>
            <a:srgbClr val="13294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65DD9F-3A66-A0A6-724A-929A712C82E4}"/>
              </a:ext>
            </a:extLst>
          </p:cNvPr>
          <p:cNvSpPr txBox="1"/>
          <p:nvPr/>
        </p:nvSpPr>
        <p:spPr>
          <a:xfrm>
            <a:off x="5588000" y="6426200"/>
            <a:ext cx="609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سامانه احراز اصالت سند و قبض انبار · بنادر و دریانوردی هرمزگان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43950D-1646-EF6F-8EF4-6BF778604841}"/>
              </a:ext>
            </a:extLst>
          </p:cNvPr>
          <p:cNvSpPr txBox="1"/>
          <p:nvPr/>
        </p:nvSpPr>
        <p:spPr>
          <a:xfrm>
            <a:off x="508000" y="6426200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۲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59917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050C8-FCC4-895C-610C-544C9E1B6DAE}"/>
              </a:ext>
            </a:extLst>
          </p:cNvPr>
          <p:cNvSpPr txBox="1"/>
          <p:nvPr/>
        </p:nvSpPr>
        <p:spPr>
          <a:xfrm>
            <a:off x="2540000" y="279400"/>
            <a:ext cx="9144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34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دو خدمت، یک درگاه</a:t>
            </a:r>
            <a:endParaRPr lang="en-US" sz="34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541077-E260-DF2B-840C-C7ACAE5C97A1}"/>
              </a:ext>
            </a:extLst>
          </p:cNvPr>
          <p:cNvSpPr txBox="1"/>
          <p:nvPr/>
        </p:nvSpPr>
        <p:spPr>
          <a:xfrm>
            <a:off x="508000" y="965199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متقاضی در صفحه‌ی اول سامانه، نوع درخواست خود را انتخاب می‌کند</a:t>
            </a:r>
            <a:endParaRPr lang="en-US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94541E-A866-17FA-A5A1-33D9ED93013A}"/>
              </a:ext>
            </a:extLst>
          </p:cNvPr>
          <p:cNvSpPr/>
          <p:nvPr/>
        </p:nvSpPr>
        <p:spPr>
          <a:xfrm>
            <a:off x="487680" y="2308860"/>
            <a:ext cx="38100" cy="221615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B85B6D-C550-88B3-B8E1-24B5BF6B107B}"/>
              </a:ext>
            </a:extLst>
          </p:cNvPr>
          <p:cNvSpPr/>
          <p:nvPr/>
        </p:nvSpPr>
        <p:spPr>
          <a:xfrm>
            <a:off x="487680" y="2663444"/>
            <a:ext cx="38100" cy="398907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B13665-4E28-9A24-BD00-2A372CD15D6B}"/>
              </a:ext>
            </a:extLst>
          </p:cNvPr>
          <p:cNvSpPr/>
          <p:nvPr/>
        </p:nvSpPr>
        <p:spPr>
          <a:xfrm>
            <a:off x="487680" y="3150997"/>
            <a:ext cx="38100" cy="398907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965575E-4F85-E0FB-D377-A81ECC7A8DB9}"/>
              </a:ext>
            </a:extLst>
          </p:cNvPr>
          <p:cNvSpPr/>
          <p:nvPr/>
        </p:nvSpPr>
        <p:spPr>
          <a:xfrm>
            <a:off x="2623820" y="2752090"/>
            <a:ext cx="38100" cy="576199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292A001-491D-BE3F-DDBC-99007814104C}"/>
              </a:ext>
            </a:extLst>
          </p:cNvPr>
          <p:cNvSpPr/>
          <p:nvPr/>
        </p:nvSpPr>
        <p:spPr>
          <a:xfrm>
            <a:off x="508000" y="1422400"/>
            <a:ext cx="2133600" cy="4432300"/>
          </a:xfrm>
          <a:prstGeom prst="roundRect">
            <a:avLst>
              <a:gd name="adj" fmla="val 165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>
            <a:outerShdw blurRad="203200" dist="88900" dir="5400000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9066FF-A694-D9AA-0BFF-5116B5E3B52E}"/>
              </a:ext>
            </a:extLst>
          </p:cNvPr>
          <p:cNvSpPr/>
          <p:nvPr/>
        </p:nvSpPr>
        <p:spPr>
          <a:xfrm>
            <a:off x="535940" y="1450340"/>
            <a:ext cx="2077720" cy="4376420"/>
          </a:xfrm>
          <a:prstGeom prst="roundRect">
            <a:avLst>
              <a:gd name="adj" fmla="val 15917"/>
            </a:avLst>
          </a:prstGeom>
          <a:solidFill>
            <a:srgbClr val="0A0A0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66E2E09-A0B9-C899-07FA-41A2B5FC2F6C}"/>
              </a:ext>
            </a:extLst>
          </p:cNvPr>
          <p:cNvSpPr/>
          <p:nvPr/>
        </p:nvSpPr>
        <p:spPr>
          <a:xfrm>
            <a:off x="579120" y="1493520"/>
            <a:ext cx="1991360" cy="4290060"/>
          </a:xfrm>
          <a:prstGeom prst="roundRect">
            <a:avLst>
              <a:gd name="adj" fmla="val 15536"/>
            </a:avLst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8BA4E5D-15EC-9FF3-3821-730A5F60BDCE}"/>
              </a:ext>
            </a:extLst>
          </p:cNvPr>
          <p:cNvSpPr/>
          <p:nvPr/>
        </p:nvSpPr>
        <p:spPr>
          <a:xfrm>
            <a:off x="1246226" y="1562161"/>
            <a:ext cx="657148" cy="189179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0FBB9F-347B-0D4E-CE5E-4A20C74AAEEE}"/>
              </a:ext>
            </a:extLst>
          </p:cNvPr>
          <p:cNvSpPr txBox="1"/>
          <p:nvPr/>
        </p:nvSpPr>
        <p:spPr>
          <a:xfrm>
            <a:off x="758342" y="1646674"/>
            <a:ext cx="438099" cy="18917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784" b="1">
                <a:solidFill>
                  <a:srgbClr val="000000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11:58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B23D8B2-E1A1-2A89-26DE-4A478FA17FDD}"/>
              </a:ext>
            </a:extLst>
          </p:cNvPr>
          <p:cNvSpPr/>
          <p:nvPr/>
        </p:nvSpPr>
        <p:spPr>
          <a:xfrm>
            <a:off x="1973072" y="1651075"/>
            <a:ext cx="21590" cy="4729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28BDEA-077B-EE16-4B2E-D47E2E5F222E}"/>
              </a:ext>
            </a:extLst>
          </p:cNvPr>
          <p:cNvSpPr/>
          <p:nvPr/>
        </p:nvSpPr>
        <p:spPr>
          <a:xfrm>
            <a:off x="2006092" y="1626482"/>
            <a:ext cx="21590" cy="71888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76FDBB7-1052-2542-3238-3C779F8A4C9F}"/>
              </a:ext>
            </a:extLst>
          </p:cNvPr>
          <p:cNvSpPr/>
          <p:nvPr/>
        </p:nvSpPr>
        <p:spPr>
          <a:xfrm>
            <a:off x="2039112" y="1601889"/>
            <a:ext cx="21590" cy="96481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58C3ADC-DB92-F45F-3606-16F699AA0582}"/>
              </a:ext>
            </a:extLst>
          </p:cNvPr>
          <p:cNvSpPr/>
          <p:nvPr/>
        </p:nvSpPr>
        <p:spPr>
          <a:xfrm>
            <a:off x="2072132" y="1577295"/>
            <a:ext cx="21590" cy="12107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DDE6E30-ADDE-C773-86B7-D43C13126432}"/>
              </a:ext>
            </a:extLst>
          </p:cNvPr>
          <p:cNvSpPr/>
          <p:nvPr/>
        </p:nvSpPr>
        <p:spPr>
          <a:xfrm>
            <a:off x="2172208" y="1615131"/>
            <a:ext cx="169266" cy="88914"/>
          </a:xfrm>
          <a:prstGeom prst="roundRect">
            <a:avLst>
              <a:gd name="adj" fmla="val 3142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502" b="1">
                <a:solidFill>
                  <a:srgbClr val="FFFFFF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89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F01A9EA-A618-EE73-C12F-DB1177F84848}"/>
              </a:ext>
            </a:extLst>
          </p:cNvPr>
          <p:cNvSpPr/>
          <p:nvPr/>
        </p:nvSpPr>
        <p:spPr>
          <a:xfrm>
            <a:off x="2346554" y="1641616"/>
            <a:ext cx="13970" cy="37836"/>
          </a:xfrm>
          <a:prstGeom prst="roundRect">
            <a:avLst>
              <a:gd name="adj" fmla="val 45455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FD98169-C57A-FDB6-B14D-E1CFDC4901C1}"/>
              </a:ext>
            </a:extLst>
          </p:cNvPr>
          <p:cNvSpPr/>
          <p:nvPr/>
        </p:nvSpPr>
        <p:spPr>
          <a:xfrm>
            <a:off x="1216355" y="5689199"/>
            <a:ext cx="716890" cy="330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AC9B4E-98AA-B524-E7F0-5CBF3E4BE38C}"/>
              </a:ext>
            </a:extLst>
          </p:cNvPr>
          <p:cNvSpPr txBox="1"/>
          <p:nvPr/>
        </p:nvSpPr>
        <p:spPr>
          <a:xfrm>
            <a:off x="381000" y="5918199"/>
            <a:ext cx="2387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sz="13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صفحه‌ی انتخاب نوع درخواست</a:t>
            </a:r>
            <a:endParaRPr lang="en-US" sz="13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16C721A-8E4A-9622-9A40-F3F38FD117DB}"/>
              </a:ext>
            </a:extLst>
          </p:cNvPr>
          <p:cNvSpPr/>
          <p:nvPr/>
        </p:nvSpPr>
        <p:spPr>
          <a:xfrm>
            <a:off x="7493000" y="1498600"/>
            <a:ext cx="4191000" cy="3327400"/>
          </a:xfrm>
          <a:prstGeom prst="roundRect">
            <a:avLst>
              <a:gd name="adj" fmla="val 6107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46D86AA-BBD5-BF7E-D588-05B3DAC93A18}"/>
              </a:ext>
            </a:extLst>
          </p:cNvPr>
          <p:cNvSpPr/>
          <p:nvPr/>
        </p:nvSpPr>
        <p:spPr>
          <a:xfrm>
            <a:off x="10896600" y="1701800"/>
            <a:ext cx="558800" cy="5588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FF91DEB-2417-7028-BCBD-74C14EBB989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3948" y="1819148"/>
            <a:ext cx="324104" cy="32410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33BB644-3D7F-7DE6-BF63-F2C301296DD6}"/>
              </a:ext>
            </a:extLst>
          </p:cNvPr>
          <p:cNvSpPr txBox="1"/>
          <p:nvPr/>
        </p:nvSpPr>
        <p:spPr>
          <a:xfrm>
            <a:off x="7747000" y="1701800"/>
            <a:ext cx="304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2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ثبت قبض انبار</a:t>
            </a:r>
            <a:endParaRPr lang="en-US" sz="22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603E1E-3491-57F5-E4A7-84553F4565BE}"/>
              </a:ext>
            </a:extLst>
          </p:cNvPr>
          <p:cNvSpPr txBox="1"/>
          <p:nvPr/>
        </p:nvSpPr>
        <p:spPr>
          <a:xfrm>
            <a:off x="7747000" y="2108200"/>
            <a:ext cx="304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400" b="1">
                <a:solidFill>
                  <a:srgbClr val="2563A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مجوز بارگیری از کانتینرهای اسکله</a:t>
            </a:r>
            <a:endParaRPr lang="en-US" sz="1400" b="1">
              <a:solidFill>
                <a:srgbClr val="2563A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0947DD-F3EC-E757-569E-B19D1E6DDA98}"/>
              </a:ext>
            </a:extLst>
          </p:cNvPr>
          <p:cNvSpPr txBox="1"/>
          <p:nvPr/>
        </p:nvSpPr>
        <p:spPr>
          <a:xfrm>
            <a:off x="7747000" y="2514599"/>
            <a:ext cx="3683000" cy="1320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پس از احراز هویت متقاضی و اصالت سند، درخواست بارگیری کالا از کانتینرهای محوطه‌ی اسکله بررسی و تایید می‌شود.</a:t>
            </a:r>
            <a:endParaRPr lang="en-US" sz="15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705C7E-8E42-809F-BD3B-6DCE1BF92529}"/>
              </a:ext>
            </a:extLst>
          </p:cNvPr>
          <p:cNvSpPr txBox="1"/>
          <p:nvPr/>
        </p:nvSpPr>
        <p:spPr>
          <a:xfrm>
            <a:off x="7747000" y="3937000"/>
            <a:ext cx="3683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 b="1">
                <a:solidFill>
                  <a:srgbClr val="2563A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چه کسی؟</a:t>
            </a:r>
            <a:r>
              <a:rPr lang="ar-SA" sz="15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 مالک کالا یا وکیل او</a:t>
            </a:r>
            <a:endParaRPr lang="en-US" sz="15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61E4EF-6577-7BDA-757B-F08A69F25FF2}"/>
              </a:ext>
            </a:extLst>
          </p:cNvPr>
          <p:cNvSpPr txBox="1"/>
          <p:nvPr/>
        </p:nvSpPr>
        <p:spPr>
          <a:xfrm>
            <a:off x="7747000" y="4318000"/>
            <a:ext cx="3683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 b="1">
                <a:solidFill>
                  <a:srgbClr val="2563A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نتیجه:</a:t>
            </a:r>
            <a:r>
              <a:rPr lang="ar-SA" sz="15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 تایید، یا رد با اعلام دلیل</a:t>
            </a:r>
            <a:endParaRPr lang="en-US" sz="15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ABAC0A4-6072-5FB8-ED83-27968F172951}"/>
              </a:ext>
            </a:extLst>
          </p:cNvPr>
          <p:cNvSpPr/>
          <p:nvPr/>
        </p:nvSpPr>
        <p:spPr>
          <a:xfrm>
            <a:off x="3048000" y="1498600"/>
            <a:ext cx="4191000" cy="3327400"/>
          </a:xfrm>
          <a:prstGeom prst="roundRect">
            <a:avLst>
              <a:gd name="adj" fmla="val 6107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EBE3FB0-233B-F989-2A6F-35377615684B}"/>
              </a:ext>
            </a:extLst>
          </p:cNvPr>
          <p:cNvSpPr/>
          <p:nvPr/>
        </p:nvSpPr>
        <p:spPr>
          <a:xfrm>
            <a:off x="6451600" y="1701800"/>
            <a:ext cx="558800" cy="5588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4BD3189-A934-6D1C-6E0C-2D108D5BC38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948" y="1819148"/>
            <a:ext cx="324104" cy="32410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079ABCF-CBA4-EF0D-F61F-BEB31F9C6A20}"/>
              </a:ext>
            </a:extLst>
          </p:cNvPr>
          <p:cNvSpPr txBox="1"/>
          <p:nvPr/>
        </p:nvSpPr>
        <p:spPr>
          <a:xfrm>
            <a:off x="3302000" y="1701800"/>
            <a:ext cx="304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2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نوبت‌دهی ارزیابی</a:t>
            </a:r>
            <a:endParaRPr lang="en-US" sz="22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CAF89B-994E-C2F9-39FD-C05B7735C55F}"/>
              </a:ext>
            </a:extLst>
          </p:cNvPr>
          <p:cNvSpPr txBox="1"/>
          <p:nvPr/>
        </p:nvSpPr>
        <p:spPr>
          <a:xfrm>
            <a:off x="3302000" y="2108200"/>
            <a:ext cx="304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400" b="1">
                <a:solidFill>
                  <a:srgbClr val="2563A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نوبت ارزیابی در محوطه‌ی شرکت</a:t>
            </a:r>
            <a:endParaRPr lang="en-US" sz="1400" b="1">
              <a:solidFill>
                <a:srgbClr val="2563A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538C27-1D49-23F0-C1E7-11F95E320EAD}"/>
              </a:ext>
            </a:extLst>
          </p:cNvPr>
          <p:cNvSpPr txBox="1"/>
          <p:nvPr/>
        </p:nvSpPr>
        <p:spPr>
          <a:xfrm>
            <a:off x="3302000" y="2514599"/>
            <a:ext cx="3683000" cy="1320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متقاضی محوطه (شرکت) را انتخاب می‌کند و کارشناس، از نوبت‌های خالی همان محوطه برایش زمان ارزیابی تعیین می‌کند.</a:t>
            </a:r>
            <a:endParaRPr lang="en-US" sz="15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6F4394-BB5E-8A64-2BAB-E05048BC265B}"/>
              </a:ext>
            </a:extLst>
          </p:cNvPr>
          <p:cNvSpPr txBox="1"/>
          <p:nvPr/>
        </p:nvSpPr>
        <p:spPr>
          <a:xfrm>
            <a:off x="3302000" y="3937000"/>
            <a:ext cx="3683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 b="1">
                <a:solidFill>
                  <a:srgbClr val="2563A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چه کسی؟</a:t>
            </a:r>
            <a:r>
              <a:rPr lang="ar-SA" sz="15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 متقاضی ارزیابی کالا</a:t>
            </a:r>
            <a:endParaRPr lang="en-US" sz="15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862078-E01B-F3E8-B6B0-556D8FE8771A}"/>
              </a:ext>
            </a:extLst>
          </p:cNvPr>
          <p:cNvSpPr txBox="1"/>
          <p:nvPr/>
        </p:nvSpPr>
        <p:spPr>
          <a:xfrm>
            <a:off x="3302000" y="4318000"/>
            <a:ext cx="3683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 b="1">
                <a:solidFill>
                  <a:srgbClr val="2563A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نتیجه:</a:t>
            </a:r>
            <a:r>
              <a:rPr lang="ar-SA" sz="15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 روز و ساعت نوبت با پیامک</a:t>
            </a:r>
            <a:endParaRPr lang="en-US" sz="15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68BCD06-022F-151A-F6E3-9B38116C1C81}"/>
              </a:ext>
            </a:extLst>
          </p:cNvPr>
          <p:cNvSpPr/>
          <p:nvPr/>
        </p:nvSpPr>
        <p:spPr>
          <a:xfrm>
            <a:off x="3048000" y="5029200"/>
            <a:ext cx="8636000" cy="1016000"/>
          </a:xfrm>
          <a:prstGeom prst="roundRect">
            <a:avLst>
              <a:gd name="adj" fmla="val 20000"/>
            </a:avLst>
          </a:prstGeom>
          <a:solidFill>
            <a:srgbClr val="13294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2DB0C96-6C88-D9FF-8ADD-4656292B0E24}"/>
              </a:ext>
            </a:extLst>
          </p:cNvPr>
          <p:cNvSpPr/>
          <p:nvPr/>
        </p:nvSpPr>
        <p:spPr>
          <a:xfrm>
            <a:off x="10871200" y="5232400"/>
            <a:ext cx="558800" cy="5588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3456861-DF9A-C87A-BACF-2ABA438CD0A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548" y="5349748"/>
            <a:ext cx="324104" cy="32410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995B0A4-C309-B2CE-7441-0A5D28D3C15E}"/>
              </a:ext>
            </a:extLst>
          </p:cNvPr>
          <p:cNvSpPr txBox="1"/>
          <p:nvPr/>
        </p:nvSpPr>
        <p:spPr>
          <a:xfrm>
            <a:off x="3302000" y="5130799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100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پیگیری مشترک</a:t>
            </a:r>
            <a:endParaRPr lang="en-US" sz="2100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47DF54-382C-CC76-0523-46013C9DDD2F}"/>
              </a:ext>
            </a:extLst>
          </p:cNvPr>
          <p:cNvSpPr txBox="1"/>
          <p:nvPr/>
        </p:nvSpPr>
        <p:spPr>
          <a:xfrm>
            <a:off x="3302000" y="5562600"/>
            <a:ext cx="7366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هر دو درخواست کد پیگیری می‌گیرند و با همین کد و شماره موبایل قابل پیگیری‌اند</a:t>
            </a:r>
            <a:endParaRPr lang="en-US" sz="15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4AE10AC-2B8B-595D-4F4A-E7C711015B06}"/>
              </a:ext>
            </a:extLst>
          </p:cNvPr>
          <p:cNvSpPr txBox="1"/>
          <p:nvPr/>
        </p:nvSpPr>
        <p:spPr>
          <a:xfrm>
            <a:off x="5588000" y="6426200"/>
            <a:ext cx="609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سامانه احراز اصالت سند و قبض انبار · بنادر و دریانوردی هرمزگان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BC93D8-AB02-B86E-8EC9-5AD2577F92C7}"/>
              </a:ext>
            </a:extLst>
          </p:cNvPr>
          <p:cNvSpPr txBox="1"/>
          <p:nvPr/>
        </p:nvSpPr>
        <p:spPr>
          <a:xfrm>
            <a:off x="508000" y="6426200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۳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89032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7145E9-06F1-E342-31F9-BEBBFF8AC5FF}"/>
              </a:ext>
            </a:extLst>
          </p:cNvPr>
          <p:cNvSpPr txBox="1"/>
          <p:nvPr/>
        </p:nvSpPr>
        <p:spPr>
          <a:xfrm>
            <a:off x="2540000" y="279400"/>
            <a:ext cx="9144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34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چهار استعلام خودکار</a:t>
            </a:r>
            <a:endParaRPr lang="en-US" sz="34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17534-E97F-3EB1-417D-82C15EE86EE2}"/>
              </a:ext>
            </a:extLst>
          </p:cNvPr>
          <p:cNvSpPr txBox="1"/>
          <p:nvPr/>
        </p:nvSpPr>
        <p:spPr>
          <a:xfrm>
            <a:off x="508000" y="965199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پیش از رسیدن به کارتابل، هر درخواست با سامانه‌های مرجع سنجیده می‌شود</a:t>
            </a:r>
            <a:endParaRPr lang="en-US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22AEB6-72E4-50E5-190C-ADA5A5CA4DB9}"/>
              </a:ext>
            </a:extLst>
          </p:cNvPr>
          <p:cNvSpPr/>
          <p:nvPr/>
        </p:nvSpPr>
        <p:spPr>
          <a:xfrm>
            <a:off x="508000" y="4064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4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قبض انبار</a:t>
            </a:r>
            <a:endParaRPr lang="en-US" sz="14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86E501-004F-789C-4ED0-4AF0F406253F}"/>
              </a:ext>
            </a:extLst>
          </p:cNvPr>
          <p:cNvSpPr/>
          <p:nvPr/>
        </p:nvSpPr>
        <p:spPr>
          <a:xfrm>
            <a:off x="9550400" y="2870200"/>
            <a:ext cx="2133600" cy="1524000"/>
          </a:xfrm>
          <a:prstGeom prst="roundRect">
            <a:avLst>
              <a:gd name="adj" fmla="val 13333"/>
            </a:avLst>
          </a:prstGeom>
          <a:solidFill>
            <a:srgbClr val="13294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217B53-D6C5-1F70-D5A5-049CA2BF6E8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3073400"/>
            <a:ext cx="457200" cy="457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CC6746-9F8A-8832-3B0A-1D2D63B1BA80}"/>
              </a:ext>
            </a:extLst>
          </p:cNvPr>
          <p:cNvSpPr txBox="1"/>
          <p:nvPr/>
        </p:nvSpPr>
        <p:spPr>
          <a:xfrm>
            <a:off x="9677400" y="3606800"/>
            <a:ext cx="1879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درخواست</a:t>
            </a:r>
          </a:p>
          <a:p>
            <a:pPr algn="ctr" rtl="1"/>
            <a:r>
              <a:rPr lang="ar-SA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ثبت‌شده</a:t>
            </a:r>
            <a:endParaRPr lang="en-US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6DC7A8-8A0D-9AB4-E98A-040BB4F715B8}"/>
              </a:ext>
            </a:extLst>
          </p:cNvPr>
          <p:cNvSpPr/>
          <p:nvPr/>
        </p:nvSpPr>
        <p:spPr>
          <a:xfrm>
            <a:off x="4191000" y="1473200"/>
            <a:ext cx="4826000" cy="990600"/>
          </a:xfrm>
          <a:prstGeom prst="roundRect">
            <a:avLst>
              <a:gd name="adj" fmla="val 17949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742DA8-2AD7-277C-CF53-89E16E3A4866}"/>
              </a:ext>
            </a:extLst>
          </p:cNvPr>
          <p:cNvSpPr/>
          <p:nvPr/>
        </p:nvSpPr>
        <p:spPr>
          <a:xfrm>
            <a:off x="8255000" y="1689100"/>
            <a:ext cx="558800" cy="5588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EF9872-CC81-FBCE-544D-E534432180E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348" y="1806448"/>
            <a:ext cx="324104" cy="3241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48AC745-4D72-2083-3035-75127290A0EE}"/>
              </a:ext>
            </a:extLst>
          </p:cNvPr>
          <p:cNvSpPr txBox="1"/>
          <p:nvPr/>
        </p:nvSpPr>
        <p:spPr>
          <a:xfrm>
            <a:off x="4394200" y="1625600"/>
            <a:ext cx="368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احراز هویت (شاهکار)</a:t>
            </a:r>
            <a:endParaRPr lang="en-US" sz="19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6F9916-703D-4FE0-0C3F-DC2E79A0F947}"/>
              </a:ext>
            </a:extLst>
          </p:cNvPr>
          <p:cNvSpPr txBox="1"/>
          <p:nvPr/>
        </p:nvSpPr>
        <p:spPr>
          <a:xfrm>
            <a:off x="4394200" y="2006600"/>
            <a:ext cx="368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کد ملی با شماره موبایل متقاضی تطابق داشته باشد</a:t>
            </a:r>
            <a:endParaRPr lang="en-US" sz="15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F7C5135-98B7-0455-D1A6-A925D3BCA38F}"/>
              </a:ext>
            </a:extLst>
          </p:cNvPr>
          <p:cNvCxnSpPr/>
          <p:nvPr/>
        </p:nvCxnSpPr>
        <p:spPr>
          <a:xfrm flipH="1" flipV="1">
            <a:off x="9042400" y="1968500"/>
            <a:ext cx="508000" cy="1663700"/>
          </a:xfrm>
          <a:prstGeom prst="straightConnector1">
            <a:avLst/>
          </a:prstGeom>
          <a:ln w="22225">
            <a:solidFill>
              <a:srgbClr val="5E6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297F359-7F2B-3925-FEC4-4843FE003F49}"/>
              </a:ext>
            </a:extLst>
          </p:cNvPr>
          <p:cNvSpPr/>
          <p:nvPr/>
        </p:nvSpPr>
        <p:spPr>
          <a:xfrm>
            <a:off x="4191000" y="2603500"/>
            <a:ext cx="4826000" cy="990600"/>
          </a:xfrm>
          <a:prstGeom prst="roundRect">
            <a:avLst>
              <a:gd name="adj" fmla="val 17949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916D2BD-66AC-F7D3-C20F-13D4B80C0954}"/>
              </a:ext>
            </a:extLst>
          </p:cNvPr>
          <p:cNvSpPr/>
          <p:nvPr/>
        </p:nvSpPr>
        <p:spPr>
          <a:xfrm>
            <a:off x="8255000" y="2819400"/>
            <a:ext cx="558800" cy="5588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DC5F338-3F24-D18D-B7CB-27359D6925E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348" y="2936748"/>
            <a:ext cx="324104" cy="32410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5A47D64-9180-270A-0559-67B1CF12D2B9}"/>
              </a:ext>
            </a:extLst>
          </p:cNvPr>
          <p:cNvSpPr txBox="1"/>
          <p:nvPr/>
        </p:nvSpPr>
        <p:spPr>
          <a:xfrm>
            <a:off x="4394200" y="2755900"/>
            <a:ext cx="368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اصالت سند</a:t>
            </a:r>
            <a:endParaRPr lang="en-US" sz="19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708494-46C1-C81A-BB24-BE70E801284C}"/>
              </a:ext>
            </a:extLst>
          </p:cNvPr>
          <p:cNvSpPr txBox="1"/>
          <p:nvPr/>
        </p:nvSpPr>
        <p:spPr>
          <a:xfrm>
            <a:off x="4394200" y="3136900"/>
            <a:ext cx="368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سندی با این شناسه و رمز تصدیق وجود داشته باشد</a:t>
            </a:r>
            <a:endParaRPr lang="en-US" sz="15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0F3161D-6830-4F47-4BA2-5D9FDEA2B27B}"/>
              </a:ext>
            </a:extLst>
          </p:cNvPr>
          <p:cNvCxnSpPr/>
          <p:nvPr/>
        </p:nvCxnSpPr>
        <p:spPr>
          <a:xfrm flipH="1" flipV="1">
            <a:off x="9042400" y="3098800"/>
            <a:ext cx="508000" cy="533400"/>
          </a:xfrm>
          <a:prstGeom prst="straightConnector1">
            <a:avLst/>
          </a:prstGeom>
          <a:ln w="22225">
            <a:solidFill>
              <a:srgbClr val="5E6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DA7A2D1-35A7-D0BD-81C2-18EB20FA5891}"/>
              </a:ext>
            </a:extLst>
          </p:cNvPr>
          <p:cNvSpPr/>
          <p:nvPr/>
        </p:nvSpPr>
        <p:spPr>
          <a:xfrm>
            <a:off x="4191000" y="3733800"/>
            <a:ext cx="4826000" cy="990600"/>
          </a:xfrm>
          <a:prstGeom prst="roundRect">
            <a:avLst>
              <a:gd name="adj" fmla="val 17949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E53F2B8-FD81-7D66-3464-A9BA3E416A6E}"/>
              </a:ext>
            </a:extLst>
          </p:cNvPr>
          <p:cNvSpPr/>
          <p:nvPr/>
        </p:nvSpPr>
        <p:spPr>
          <a:xfrm>
            <a:off x="8255000" y="3949700"/>
            <a:ext cx="558800" cy="5588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0B464B3-81D4-C21B-AD51-9DABE284268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348" y="4067048"/>
            <a:ext cx="324104" cy="32410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9B79668-BC27-58F2-90C4-B24CABEFDE16}"/>
              </a:ext>
            </a:extLst>
          </p:cNvPr>
          <p:cNvSpPr txBox="1"/>
          <p:nvPr/>
        </p:nvSpPr>
        <p:spPr>
          <a:xfrm>
            <a:off x="4394200" y="3886200"/>
            <a:ext cx="368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ارتباط با سند</a:t>
            </a:r>
            <a:endParaRPr lang="en-US" sz="19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14B798-BDD2-51BC-6A71-11187CD83B80}"/>
              </a:ext>
            </a:extLst>
          </p:cNvPr>
          <p:cNvSpPr txBox="1"/>
          <p:nvPr/>
        </p:nvSpPr>
        <p:spPr>
          <a:xfrm>
            <a:off x="4394200" y="4267200"/>
            <a:ext cx="368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متقاضی مالک سند باشد یا وکیل با وکالت‌نامه‌ی معتبر</a:t>
            </a:r>
            <a:endParaRPr lang="en-US" sz="15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7076BE0-0518-F044-E5FA-5559BFB57CF7}"/>
              </a:ext>
            </a:extLst>
          </p:cNvPr>
          <p:cNvCxnSpPr/>
          <p:nvPr/>
        </p:nvCxnSpPr>
        <p:spPr>
          <a:xfrm flipH="1">
            <a:off x="9042400" y="3632200"/>
            <a:ext cx="508000" cy="596900"/>
          </a:xfrm>
          <a:prstGeom prst="straightConnector1">
            <a:avLst/>
          </a:prstGeom>
          <a:ln w="22225">
            <a:solidFill>
              <a:srgbClr val="5E6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B9E1EA9-7860-20C1-5DC4-0C09A5BDA05D}"/>
              </a:ext>
            </a:extLst>
          </p:cNvPr>
          <p:cNvSpPr/>
          <p:nvPr/>
        </p:nvSpPr>
        <p:spPr>
          <a:xfrm>
            <a:off x="4191000" y="4864100"/>
            <a:ext cx="4826000" cy="990600"/>
          </a:xfrm>
          <a:prstGeom prst="roundRect">
            <a:avLst>
              <a:gd name="adj" fmla="val 17949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509A9F8-549E-4560-ECBE-B08B0C29C714}"/>
              </a:ext>
            </a:extLst>
          </p:cNvPr>
          <p:cNvSpPr/>
          <p:nvPr/>
        </p:nvSpPr>
        <p:spPr>
          <a:xfrm>
            <a:off x="8255000" y="5080000"/>
            <a:ext cx="558800" cy="5588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73DF92C-EFAC-24AF-B2E8-6F979ECDEEFB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348" y="5197348"/>
            <a:ext cx="324104" cy="32410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0DD12D8-FEA0-2010-716A-6601DF250EC6}"/>
              </a:ext>
            </a:extLst>
          </p:cNvPr>
          <p:cNvSpPr txBox="1"/>
          <p:nvPr/>
        </p:nvSpPr>
        <p:spPr>
          <a:xfrm>
            <a:off x="4394200" y="5016500"/>
            <a:ext cx="368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قبض انبار</a:t>
            </a:r>
            <a:endParaRPr lang="en-US" sz="19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1212E5-1A26-A406-E52F-32571B133625}"/>
              </a:ext>
            </a:extLst>
          </p:cNvPr>
          <p:cNvSpPr txBox="1"/>
          <p:nvPr/>
        </p:nvSpPr>
        <p:spPr>
          <a:xfrm>
            <a:off x="4394200" y="5397500"/>
            <a:ext cx="368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قبض با این شماره در سامانه‌ی شرکت ثبت شده باشد</a:t>
            </a:r>
            <a:endParaRPr lang="en-US" sz="15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ADED520-9966-2078-2A38-C66134369562}"/>
              </a:ext>
            </a:extLst>
          </p:cNvPr>
          <p:cNvCxnSpPr/>
          <p:nvPr/>
        </p:nvCxnSpPr>
        <p:spPr>
          <a:xfrm flipH="1">
            <a:off x="9042400" y="3632200"/>
            <a:ext cx="508000" cy="1727200"/>
          </a:xfrm>
          <a:prstGeom prst="straightConnector1">
            <a:avLst/>
          </a:prstGeom>
          <a:ln w="22225">
            <a:solidFill>
              <a:srgbClr val="5E6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8146A32-7ACF-F6C3-F12A-907BF920EA22}"/>
              </a:ext>
            </a:extLst>
          </p:cNvPr>
          <p:cNvSpPr/>
          <p:nvPr/>
        </p:nvSpPr>
        <p:spPr>
          <a:xfrm>
            <a:off x="508000" y="1651000"/>
            <a:ext cx="3175000" cy="1905000"/>
          </a:xfrm>
          <a:prstGeom prst="roundRect">
            <a:avLst>
              <a:gd name="adj" fmla="val 10667"/>
            </a:avLst>
          </a:prstGeom>
          <a:solidFill>
            <a:srgbClr val="13294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DB9752C-1E2B-C90D-B4F5-500B149CBC68}"/>
              </a:ext>
            </a:extLst>
          </p:cNvPr>
          <p:cNvSpPr/>
          <p:nvPr/>
        </p:nvSpPr>
        <p:spPr>
          <a:xfrm>
            <a:off x="2870200" y="1854200"/>
            <a:ext cx="558800" cy="5588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7BCC7D9-4B21-E3BB-336B-5FE12203C699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548" y="1971548"/>
            <a:ext cx="324104" cy="32410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19CB29F6-002E-E144-2B14-808260CBCEBE}"/>
              </a:ext>
            </a:extLst>
          </p:cNvPr>
          <p:cNvSpPr txBox="1"/>
          <p:nvPr/>
        </p:nvSpPr>
        <p:spPr>
          <a:xfrm>
            <a:off x="762000" y="1930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100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همه تایید شد</a:t>
            </a:r>
            <a:endParaRPr lang="en-US" sz="2100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4B8207-95D7-A809-BB60-FDEEA7D34F23}"/>
              </a:ext>
            </a:extLst>
          </p:cNvPr>
          <p:cNvSpPr txBox="1"/>
          <p:nvPr/>
        </p:nvSpPr>
        <p:spPr>
          <a:xfrm>
            <a:off x="762000" y="2565399"/>
            <a:ext cx="2667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درخواست مستقیم به کارتابل کارشناسان همان شرکت می‌رود</a:t>
            </a:r>
            <a:endParaRPr lang="en-US" sz="16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236294C-2D88-2AC3-19ED-30D24D2C9E64}"/>
              </a:ext>
            </a:extLst>
          </p:cNvPr>
          <p:cNvSpPr/>
          <p:nvPr/>
        </p:nvSpPr>
        <p:spPr>
          <a:xfrm>
            <a:off x="508000" y="3810000"/>
            <a:ext cx="3175000" cy="1905000"/>
          </a:xfrm>
          <a:prstGeom prst="roundRect">
            <a:avLst>
              <a:gd name="adj" fmla="val 10667"/>
            </a:avLst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A4DA6C7-B238-397A-796C-03CAA7915BE3}"/>
              </a:ext>
            </a:extLst>
          </p:cNvPr>
          <p:cNvSpPr/>
          <p:nvPr/>
        </p:nvSpPr>
        <p:spPr>
          <a:xfrm>
            <a:off x="2870200" y="4013200"/>
            <a:ext cx="558800" cy="558800"/>
          </a:xfrm>
          <a:prstGeom prst="ellipse">
            <a:avLst/>
          </a:prstGeom>
          <a:solidFill>
            <a:srgbClr val="13294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475CC3F-72DF-E4AE-EC91-5534E9DEA44E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548" y="4130548"/>
            <a:ext cx="324104" cy="32410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23D34EF-426F-ED33-C3AF-1FA078C3AF3F}"/>
              </a:ext>
            </a:extLst>
          </p:cNvPr>
          <p:cNvSpPr txBox="1"/>
          <p:nvPr/>
        </p:nvSpPr>
        <p:spPr>
          <a:xfrm>
            <a:off x="762000" y="4089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1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یکی رد شد</a:t>
            </a:r>
            <a:endParaRPr lang="en-US" sz="21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1BB89A9-13A5-A404-C83E-68929B21F219}"/>
              </a:ext>
            </a:extLst>
          </p:cNvPr>
          <p:cNvSpPr txBox="1"/>
          <p:nvPr/>
        </p:nvSpPr>
        <p:spPr>
          <a:xfrm>
            <a:off x="762000" y="4724399"/>
            <a:ext cx="2667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درخواست خودکار رد و دلیل آن برای متقاضی پیامک می‌شود</a:t>
            </a:r>
            <a:endParaRPr lang="en-US" sz="1600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8EC0DE6-5F5B-79F9-0718-E0B99264F071}"/>
              </a:ext>
            </a:extLst>
          </p:cNvPr>
          <p:cNvCxnSpPr/>
          <p:nvPr/>
        </p:nvCxnSpPr>
        <p:spPr>
          <a:xfrm flipH="1" flipV="1">
            <a:off x="3708400" y="2603500"/>
            <a:ext cx="457200" cy="444500"/>
          </a:xfrm>
          <a:prstGeom prst="straightConnector1">
            <a:avLst/>
          </a:prstGeom>
          <a:ln w="22225">
            <a:solidFill>
              <a:srgbClr val="5E6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F69C84C-70CE-6F89-E635-FE55A794528C}"/>
              </a:ext>
            </a:extLst>
          </p:cNvPr>
          <p:cNvCxnSpPr/>
          <p:nvPr/>
        </p:nvCxnSpPr>
        <p:spPr>
          <a:xfrm flipH="1">
            <a:off x="3708400" y="4318000"/>
            <a:ext cx="457200" cy="444500"/>
          </a:xfrm>
          <a:prstGeom prst="straightConnector1">
            <a:avLst/>
          </a:prstGeom>
          <a:ln w="22225">
            <a:solidFill>
              <a:srgbClr val="5E6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C6E5639-A931-4AE4-148F-077F5AAE68B5}"/>
              </a:ext>
            </a:extLst>
          </p:cNvPr>
          <p:cNvSpPr txBox="1"/>
          <p:nvPr/>
        </p:nvSpPr>
        <p:spPr>
          <a:xfrm>
            <a:off x="5588000" y="6426200"/>
            <a:ext cx="609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سامانه احراز اصالت سند و قبض انبار · بنادر و دریانوردی هرمزگان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5D8A59-3D44-69C6-B9B8-C88E4D422888}"/>
              </a:ext>
            </a:extLst>
          </p:cNvPr>
          <p:cNvSpPr txBox="1"/>
          <p:nvPr/>
        </p:nvSpPr>
        <p:spPr>
          <a:xfrm>
            <a:off x="508000" y="6426200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۴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4042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C33484-F6E1-41B0-95B3-0B483C38BE3E}"/>
              </a:ext>
            </a:extLst>
          </p:cNvPr>
          <p:cNvSpPr txBox="1"/>
          <p:nvPr/>
        </p:nvSpPr>
        <p:spPr>
          <a:xfrm>
            <a:off x="2540000" y="279400"/>
            <a:ext cx="9144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34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اطلاع‌رسانی پیامکی در هر مرحله</a:t>
            </a:r>
            <a:endParaRPr lang="en-US" sz="34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8BD177-BB18-F97E-1166-37FAED60B4B7}"/>
              </a:ext>
            </a:extLst>
          </p:cNvPr>
          <p:cNvSpPr txBox="1"/>
          <p:nvPr/>
        </p:nvSpPr>
        <p:spPr>
          <a:xfrm>
            <a:off x="508000" y="965199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متقاضی بدون تماس یا مراجعه، از هر تغییر وضعیت باخبر می‌شود</a:t>
            </a:r>
            <a:endParaRPr lang="en-US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B5120F-46CF-2113-2037-2BB8BD71BC19}"/>
              </a:ext>
            </a:extLst>
          </p:cNvPr>
          <p:cNvSpPr/>
          <p:nvPr/>
        </p:nvSpPr>
        <p:spPr>
          <a:xfrm>
            <a:off x="1249680" y="2308860"/>
            <a:ext cx="38100" cy="221615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040D56-8053-49AC-0347-7D3065BDD6D7}"/>
              </a:ext>
            </a:extLst>
          </p:cNvPr>
          <p:cNvSpPr/>
          <p:nvPr/>
        </p:nvSpPr>
        <p:spPr>
          <a:xfrm>
            <a:off x="1249680" y="2663444"/>
            <a:ext cx="38100" cy="398907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113E4A-81CC-B8CE-9C5E-214D493A3274}"/>
              </a:ext>
            </a:extLst>
          </p:cNvPr>
          <p:cNvSpPr/>
          <p:nvPr/>
        </p:nvSpPr>
        <p:spPr>
          <a:xfrm>
            <a:off x="1249680" y="3150997"/>
            <a:ext cx="38100" cy="398907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550E28-4002-C07A-B734-4698DB495BA2}"/>
              </a:ext>
            </a:extLst>
          </p:cNvPr>
          <p:cNvSpPr/>
          <p:nvPr/>
        </p:nvSpPr>
        <p:spPr>
          <a:xfrm>
            <a:off x="3385820" y="2752090"/>
            <a:ext cx="38100" cy="576199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756622-11B7-D856-2123-D91CA5F97EAB}"/>
              </a:ext>
            </a:extLst>
          </p:cNvPr>
          <p:cNvSpPr/>
          <p:nvPr/>
        </p:nvSpPr>
        <p:spPr>
          <a:xfrm>
            <a:off x="1270000" y="1422400"/>
            <a:ext cx="2133600" cy="4432300"/>
          </a:xfrm>
          <a:prstGeom prst="roundRect">
            <a:avLst>
              <a:gd name="adj" fmla="val 165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>
            <a:outerShdw blurRad="203200" dist="88900" dir="5400000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608263-8005-5EFE-A740-347CE5C665A2}"/>
              </a:ext>
            </a:extLst>
          </p:cNvPr>
          <p:cNvSpPr/>
          <p:nvPr/>
        </p:nvSpPr>
        <p:spPr>
          <a:xfrm>
            <a:off x="1297940" y="1450340"/>
            <a:ext cx="2077720" cy="4376420"/>
          </a:xfrm>
          <a:prstGeom prst="roundRect">
            <a:avLst>
              <a:gd name="adj" fmla="val 15917"/>
            </a:avLst>
          </a:prstGeom>
          <a:solidFill>
            <a:srgbClr val="0A0A0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ACEBEA7-C090-083D-2A68-ADE79CCCEAFB}"/>
              </a:ext>
            </a:extLst>
          </p:cNvPr>
          <p:cNvSpPr/>
          <p:nvPr/>
        </p:nvSpPr>
        <p:spPr>
          <a:xfrm>
            <a:off x="1341120" y="1493520"/>
            <a:ext cx="1991360" cy="4290060"/>
          </a:xfrm>
          <a:prstGeom prst="roundRect">
            <a:avLst>
              <a:gd name="adj" fmla="val 15536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411D5A-F610-007B-D6CC-0915DECF3B05}"/>
              </a:ext>
            </a:extLst>
          </p:cNvPr>
          <p:cNvSpPr/>
          <p:nvPr/>
        </p:nvSpPr>
        <p:spPr>
          <a:xfrm>
            <a:off x="2008226" y="1562161"/>
            <a:ext cx="657149" cy="189179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A501AB-9A61-95C2-232F-3E503D57F05F}"/>
              </a:ext>
            </a:extLst>
          </p:cNvPr>
          <p:cNvSpPr txBox="1"/>
          <p:nvPr/>
        </p:nvSpPr>
        <p:spPr>
          <a:xfrm>
            <a:off x="1520342" y="1646674"/>
            <a:ext cx="438099" cy="18917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784" b="1">
                <a:solidFill>
                  <a:srgbClr val="000000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11:56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F738752-3982-F453-7BF3-CEBD57CE428B}"/>
              </a:ext>
            </a:extLst>
          </p:cNvPr>
          <p:cNvSpPr/>
          <p:nvPr/>
        </p:nvSpPr>
        <p:spPr>
          <a:xfrm>
            <a:off x="2735072" y="1651075"/>
            <a:ext cx="21590" cy="4729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A03EB1A-4D80-61B0-CA5A-72D80E64EEFB}"/>
              </a:ext>
            </a:extLst>
          </p:cNvPr>
          <p:cNvSpPr/>
          <p:nvPr/>
        </p:nvSpPr>
        <p:spPr>
          <a:xfrm>
            <a:off x="2768092" y="1626482"/>
            <a:ext cx="21590" cy="71888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2F3D90-3CA5-7844-1823-3751330C2183}"/>
              </a:ext>
            </a:extLst>
          </p:cNvPr>
          <p:cNvSpPr/>
          <p:nvPr/>
        </p:nvSpPr>
        <p:spPr>
          <a:xfrm>
            <a:off x="2801112" y="1601889"/>
            <a:ext cx="21590" cy="96481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646C722-CFA9-2814-AA39-6E8CE92C8511}"/>
              </a:ext>
            </a:extLst>
          </p:cNvPr>
          <p:cNvSpPr/>
          <p:nvPr/>
        </p:nvSpPr>
        <p:spPr>
          <a:xfrm>
            <a:off x="2834132" y="1577295"/>
            <a:ext cx="21590" cy="12107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1EC937C-C8BA-ABD4-D887-4B4979EB2551}"/>
              </a:ext>
            </a:extLst>
          </p:cNvPr>
          <p:cNvSpPr/>
          <p:nvPr/>
        </p:nvSpPr>
        <p:spPr>
          <a:xfrm>
            <a:off x="2934208" y="1615131"/>
            <a:ext cx="169266" cy="88914"/>
          </a:xfrm>
          <a:prstGeom prst="roundRect">
            <a:avLst>
              <a:gd name="adj" fmla="val 3142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502" b="1">
                <a:solidFill>
                  <a:srgbClr val="FFFFFF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89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5A21CF4-B3B9-C2DA-8367-B4D9D8ACFA09}"/>
              </a:ext>
            </a:extLst>
          </p:cNvPr>
          <p:cNvSpPr/>
          <p:nvPr/>
        </p:nvSpPr>
        <p:spPr>
          <a:xfrm>
            <a:off x="3108554" y="1641616"/>
            <a:ext cx="13970" cy="37836"/>
          </a:xfrm>
          <a:prstGeom prst="roundRect">
            <a:avLst>
              <a:gd name="adj" fmla="val 45455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539043C-C28D-8AFC-3522-8788C07B6D3D}"/>
              </a:ext>
            </a:extLst>
          </p:cNvPr>
          <p:cNvSpPr/>
          <p:nvPr/>
        </p:nvSpPr>
        <p:spPr>
          <a:xfrm>
            <a:off x="2187448" y="1854302"/>
            <a:ext cx="298704" cy="298704"/>
          </a:xfrm>
          <a:prstGeom prst="ellipse">
            <a:avLst/>
          </a:prstGeom>
          <a:solidFill>
            <a:srgbClr val="A4AAB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88C60F7-3BFF-B018-2BEA-BAE2C848D66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89" y="1908068"/>
            <a:ext cx="179222" cy="179222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C6975BC-6A12-A5E4-1706-9DB98E615C19}"/>
              </a:ext>
            </a:extLst>
          </p:cNvPr>
          <p:cNvSpPr/>
          <p:nvPr/>
        </p:nvSpPr>
        <p:spPr>
          <a:xfrm>
            <a:off x="1838960" y="2184756"/>
            <a:ext cx="995680" cy="149352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27" b="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0983 000 2892  ›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FBC9349-00FB-9031-4470-945E63798AFF}"/>
              </a:ext>
            </a:extLst>
          </p:cNvPr>
          <p:cNvSpPr/>
          <p:nvPr/>
        </p:nvSpPr>
        <p:spPr>
          <a:xfrm>
            <a:off x="1440688" y="1879702"/>
            <a:ext cx="278790" cy="278790"/>
          </a:xfrm>
          <a:prstGeom prst="ellipse">
            <a:avLst/>
          </a:prstGeom>
          <a:solidFill>
            <a:srgbClr val="F2F2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568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‹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E356338-DCD8-96BE-7253-6F319F9987D4}"/>
              </a:ext>
            </a:extLst>
          </p:cNvPr>
          <p:cNvSpPr/>
          <p:nvPr/>
        </p:nvSpPr>
        <p:spPr>
          <a:xfrm>
            <a:off x="1978355" y="5689199"/>
            <a:ext cx="716890" cy="330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AB03F4F-050A-BCDD-8C59-1A6D82D07F7D}"/>
              </a:ext>
            </a:extLst>
          </p:cNvPr>
          <p:cNvSpPr/>
          <p:nvPr/>
        </p:nvSpPr>
        <p:spPr>
          <a:xfrm>
            <a:off x="1420774" y="5287053"/>
            <a:ext cx="209093" cy="209093"/>
          </a:xfrm>
          <a:prstGeom prst="ellipse">
            <a:avLst/>
          </a:prstGeom>
          <a:solidFill>
            <a:srgbClr val="F2F2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76">
                <a:solidFill>
                  <a:srgbClr val="3C3C4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+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A7B34AB-19D2-0565-961D-410AC94F8E7A}"/>
              </a:ext>
            </a:extLst>
          </p:cNvPr>
          <p:cNvSpPr/>
          <p:nvPr/>
        </p:nvSpPr>
        <p:spPr>
          <a:xfrm>
            <a:off x="1680667" y="5287053"/>
            <a:ext cx="1572158" cy="2090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 cap="flat" cmpd="sng" algn="ctr">
            <a:solidFill>
              <a:srgbClr val="D1D1D6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0" rIns="0" bIns="0" rtlCol="0" anchor="ctr"/>
          <a:lstStyle/>
          <a:p>
            <a:r>
              <a:rPr lang="en-US" sz="659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Text Message • SMS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9DA9F7-7C9F-D601-6477-02D9181C2EC1}"/>
              </a:ext>
            </a:extLst>
          </p:cNvPr>
          <p:cNvSpPr txBox="1"/>
          <p:nvPr/>
        </p:nvSpPr>
        <p:spPr>
          <a:xfrm>
            <a:off x="1341120" y="2723549"/>
            <a:ext cx="1991360" cy="17363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564" b="1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Text Message</a:t>
            </a:r>
          </a:p>
          <a:p>
            <a:pPr algn="ctr"/>
            <a:r>
              <a:rPr lang="en-US" sz="564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Wednesday 9:23 AM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49F8455-239A-C14C-73CC-9210D8A0F5DE}"/>
              </a:ext>
            </a:extLst>
          </p:cNvPr>
          <p:cNvSpPr/>
          <p:nvPr/>
        </p:nvSpPr>
        <p:spPr>
          <a:xfrm>
            <a:off x="1430731" y="2941636"/>
            <a:ext cx="1672743" cy="722539"/>
          </a:xfrm>
          <a:prstGeom prst="roundRect">
            <a:avLst>
              <a:gd name="adj" fmla="val 15819"/>
            </a:avLst>
          </a:prstGeom>
          <a:solidFill>
            <a:srgbClr val="E9E9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t">
            <a:spAutoFit/>
          </a:bodyPr>
          <a:lstStyle/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کد تایید شما: </a:t>
            </a:r>
            <a:r>
              <a:rPr lang="ar-SA" sz="753" u="sng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732923</a:t>
            </a:r>
          </a:p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سامانه احراز اصالت سند و قبض انبار</a:t>
            </a:r>
          </a:p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اداره کل بنادر و دریانوردی استان هرمزگان</a:t>
            </a:r>
          </a:p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1405/07/29 09:23:36 ق.ظ</a:t>
            </a:r>
            <a:endParaRPr lang="en-US" sz="753">
              <a:solidFill>
                <a:srgbClr val="1C1C1E"/>
              </a:solidFill>
              <a:latin typeface="Segoe UI" panose="020B0502040204020203" pitchFamily="34" charset="0"/>
              <a:cs typeface="Tahoma" panose="020B060403050404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38A4F94-949D-DCCB-0074-14301FF47551}"/>
              </a:ext>
            </a:extLst>
          </p:cNvPr>
          <p:cNvSpPr/>
          <p:nvPr/>
        </p:nvSpPr>
        <p:spPr>
          <a:xfrm>
            <a:off x="1430731" y="3708625"/>
            <a:ext cx="1672743" cy="722539"/>
          </a:xfrm>
          <a:prstGeom prst="roundRect">
            <a:avLst>
              <a:gd name="adj" fmla="val 15819"/>
            </a:avLst>
          </a:prstGeom>
          <a:solidFill>
            <a:srgbClr val="E9E9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t">
            <a:spAutoFit/>
          </a:bodyPr>
          <a:lstStyle/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کد تایید شما: </a:t>
            </a:r>
            <a:r>
              <a:rPr lang="ar-SA" sz="753" u="sng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800984</a:t>
            </a:r>
          </a:p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سامانه احراز اصالت سند و قبض انبار</a:t>
            </a:r>
          </a:p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اداره کل بنادر و دریانوردی استان هرمزگان</a:t>
            </a:r>
          </a:p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1405/07/29 09:25:39 ق.ظ</a:t>
            </a:r>
            <a:endParaRPr lang="en-US" sz="753">
              <a:solidFill>
                <a:srgbClr val="1C1C1E"/>
              </a:solidFill>
              <a:latin typeface="Segoe UI" panose="020B0502040204020203" pitchFamily="34" charset="0"/>
              <a:cs typeface="Tahoma" panose="020B060403050404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C26BD23-B224-6631-0E31-132D0147C784}"/>
              </a:ext>
            </a:extLst>
          </p:cNvPr>
          <p:cNvSpPr/>
          <p:nvPr/>
        </p:nvSpPr>
        <p:spPr>
          <a:xfrm>
            <a:off x="1430731" y="4475614"/>
            <a:ext cx="1672743" cy="722539"/>
          </a:xfrm>
          <a:prstGeom prst="roundRect">
            <a:avLst>
              <a:gd name="adj" fmla="val 15819"/>
            </a:avLst>
          </a:prstGeom>
          <a:solidFill>
            <a:srgbClr val="E9E9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t">
            <a:spAutoFit/>
          </a:bodyPr>
          <a:lstStyle/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کد تایید شما: </a:t>
            </a:r>
            <a:r>
              <a:rPr lang="ar-SA" sz="753" u="sng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600204</a:t>
            </a:r>
          </a:p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سامانه احراز اصالت سند و قبض انبار</a:t>
            </a:r>
          </a:p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اداره کل بنادر و دریانوردی استان هرمزگان</a:t>
            </a:r>
          </a:p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1405/07/29 09:26:02 ق.ظ</a:t>
            </a:r>
            <a:endParaRPr lang="en-US" sz="753">
              <a:solidFill>
                <a:srgbClr val="1C1C1E"/>
              </a:solidFill>
              <a:latin typeface="Segoe UI" panose="020B0502040204020203" pitchFamily="34" charset="0"/>
              <a:cs typeface="Tahoma" panose="020B060403050404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A7C8EAD-C470-1B55-A9AE-93FA93A90821}"/>
              </a:ext>
            </a:extLst>
          </p:cNvPr>
          <p:cNvSpPr/>
          <p:nvPr/>
        </p:nvSpPr>
        <p:spPr>
          <a:xfrm>
            <a:off x="3688080" y="2308860"/>
            <a:ext cx="38100" cy="221615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27B0468-F4C9-F221-D59B-FD43C1B04E4A}"/>
              </a:ext>
            </a:extLst>
          </p:cNvPr>
          <p:cNvSpPr/>
          <p:nvPr/>
        </p:nvSpPr>
        <p:spPr>
          <a:xfrm>
            <a:off x="3688080" y="2663444"/>
            <a:ext cx="38100" cy="398907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3CFAA00-8629-D404-99B8-BEB432F23924}"/>
              </a:ext>
            </a:extLst>
          </p:cNvPr>
          <p:cNvSpPr/>
          <p:nvPr/>
        </p:nvSpPr>
        <p:spPr>
          <a:xfrm>
            <a:off x="3688080" y="3150997"/>
            <a:ext cx="38100" cy="398907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5390E42-98B1-3033-BAB3-01BFA0487414}"/>
              </a:ext>
            </a:extLst>
          </p:cNvPr>
          <p:cNvSpPr/>
          <p:nvPr/>
        </p:nvSpPr>
        <p:spPr>
          <a:xfrm>
            <a:off x="5824220" y="2752090"/>
            <a:ext cx="38100" cy="576199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83E4B6E-AC44-FD2F-7FB5-E63A96DE8F0F}"/>
              </a:ext>
            </a:extLst>
          </p:cNvPr>
          <p:cNvSpPr/>
          <p:nvPr/>
        </p:nvSpPr>
        <p:spPr>
          <a:xfrm>
            <a:off x="3708400" y="1422400"/>
            <a:ext cx="2133600" cy="4432300"/>
          </a:xfrm>
          <a:prstGeom prst="roundRect">
            <a:avLst>
              <a:gd name="adj" fmla="val 165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>
            <a:outerShdw blurRad="203200" dist="88900" dir="5400000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7319D4E-B7E8-C852-57C6-F8A4E773BA5B}"/>
              </a:ext>
            </a:extLst>
          </p:cNvPr>
          <p:cNvSpPr/>
          <p:nvPr/>
        </p:nvSpPr>
        <p:spPr>
          <a:xfrm>
            <a:off x="3736340" y="1450340"/>
            <a:ext cx="2077720" cy="4376420"/>
          </a:xfrm>
          <a:prstGeom prst="roundRect">
            <a:avLst>
              <a:gd name="adj" fmla="val 15917"/>
            </a:avLst>
          </a:prstGeom>
          <a:solidFill>
            <a:srgbClr val="0A0A0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45BA9BE-7C4A-991C-FFE3-819C06E9ACDD}"/>
              </a:ext>
            </a:extLst>
          </p:cNvPr>
          <p:cNvSpPr/>
          <p:nvPr/>
        </p:nvSpPr>
        <p:spPr>
          <a:xfrm>
            <a:off x="3779520" y="1493520"/>
            <a:ext cx="1991360" cy="4290060"/>
          </a:xfrm>
          <a:prstGeom prst="roundRect">
            <a:avLst>
              <a:gd name="adj" fmla="val 15536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17D8CDF-D3CE-84D2-A7D5-3ADB138B90F6}"/>
              </a:ext>
            </a:extLst>
          </p:cNvPr>
          <p:cNvSpPr/>
          <p:nvPr/>
        </p:nvSpPr>
        <p:spPr>
          <a:xfrm>
            <a:off x="4446625" y="1562161"/>
            <a:ext cx="657149" cy="189179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35BEDA-17F2-EA2F-4928-90BB833CD645}"/>
              </a:ext>
            </a:extLst>
          </p:cNvPr>
          <p:cNvSpPr txBox="1"/>
          <p:nvPr/>
        </p:nvSpPr>
        <p:spPr>
          <a:xfrm>
            <a:off x="3958742" y="1646674"/>
            <a:ext cx="438099" cy="18917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784" b="1">
                <a:solidFill>
                  <a:srgbClr val="000000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11:56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7E8E2E5-07A9-C2A3-98E1-03CA0997EB80}"/>
              </a:ext>
            </a:extLst>
          </p:cNvPr>
          <p:cNvSpPr/>
          <p:nvPr/>
        </p:nvSpPr>
        <p:spPr>
          <a:xfrm>
            <a:off x="5173472" y="1651075"/>
            <a:ext cx="21590" cy="4729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4AD6D9A-1481-03BA-3357-B57053EDBC92}"/>
              </a:ext>
            </a:extLst>
          </p:cNvPr>
          <p:cNvSpPr/>
          <p:nvPr/>
        </p:nvSpPr>
        <p:spPr>
          <a:xfrm>
            <a:off x="5206492" y="1626482"/>
            <a:ext cx="21590" cy="71888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9E0DD6B-2F69-053C-8468-73EC0ED4EBFD}"/>
              </a:ext>
            </a:extLst>
          </p:cNvPr>
          <p:cNvSpPr/>
          <p:nvPr/>
        </p:nvSpPr>
        <p:spPr>
          <a:xfrm>
            <a:off x="5239512" y="1601889"/>
            <a:ext cx="21590" cy="96481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36DD79F-B02B-F86B-3613-D8F83722446A}"/>
              </a:ext>
            </a:extLst>
          </p:cNvPr>
          <p:cNvSpPr/>
          <p:nvPr/>
        </p:nvSpPr>
        <p:spPr>
          <a:xfrm>
            <a:off x="5272532" y="1577295"/>
            <a:ext cx="21590" cy="12107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3989AA6-E91A-74B7-C8BF-CEF29A77F9F8}"/>
              </a:ext>
            </a:extLst>
          </p:cNvPr>
          <p:cNvSpPr/>
          <p:nvPr/>
        </p:nvSpPr>
        <p:spPr>
          <a:xfrm>
            <a:off x="5372608" y="1615131"/>
            <a:ext cx="169266" cy="88914"/>
          </a:xfrm>
          <a:prstGeom prst="roundRect">
            <a:avLst>
              <a:gd name="adj" fmla="val 3142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502" b="1">
                <a:solidFill>
                  <a:srgbClr val="FFFFFF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89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6AF6B2A-80B9-CD35-BF64-CF57B81775AD}"/>
              </a:ext>
            </a:extLst>
          </p:cNvPr>
          <p:cNvSpPr/>
          <p:nvPr/>
        </p:nvSpPr>
        <p:spPr>
          <a:xfrm>
            <a:off x="5546954" y="1641616"/>
            <a:ext cx="13970" cy="37836"/>
          </a:xfrm>
          <a:prstGeom prst="roundRect">
            <a:avLst>
              <a:gd name="adj" fmla="val 45455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1EE69D9-8007-10EA-3260-46FF773C1EDF}"/>
              </a:ext>
            </a:extLst>
          </p:cNvPr>
          <p:cNvSpPr/>
          <p:nvPr/>
        </p:nvSpPr>
        <p:spPr>
          <a:xfrm>
            <a:off x="4625848" y="1854302"/>
            <a:ext cx="298704" cy="298704"/>
          </a:xfrm>
          <a:prstGeom prst="ellipse">
            <a:avLst/>
          </a:prstGeom>
          <a:solidFill>
            <a:srgbClr val="A4AAB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0D744AC4-39C5-3EB5-0CAA-1919B8D94F0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589" y="1908068"/>
            <a:ext cx="179222" cy="179222"/>
          </a:xfrm>
          <a:prstGeom prst="rect">
            <a:avLst/>
          </a:prstGeom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5880E8D-3384-EBFC-823D-F42C920FE17B}"/>
              </a:ext>
            </a:extLst>
          </p:cNvPr>
          <p:cNvSpPr/>
          <p:nvPr/>
        </p:nvSpPr>
        <p:spPr>
          <a:xfrm>
            <a:off x="4277360" y="2184756"/>
            <a:ext cx="995680" cy="149352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27" b="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0983 000 2892  ›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4CFB885-86C9-BA57-5220-C9CBF25BE1A7}"/>
              </a:ext>
            </a:extLst>
          </p:cNvPr>
          <p:cNvSpPr/>
          <p:nvPr/>
        </p:nvSpPr>
        <p:spPr>
          <a:xfrm>
            <a:off x="3879088" y="1879702"/>
            <a:ext cx="278790" cy="278790"/>
          </a:xfrm>
          <a:prstGeom prst="ellipse">
            <a:avLst/>
          </a:prstGeom>
          <a:solidFill>
            <a:srgbClr val="F2F2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568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‹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B587F3B-3272-5F68-F83B-8C1AE17D3B03}"/>
              </a:ext>
            </a:extLst>
          </p:cNvPr>
          <p:cNvSpPr/>
          <p:nvPr/>
        </p:nvSpPr>
        <p:spPr>
          <a:xfrm>
            <a:off x="4416755" y="5689199"/>
            <a:ext cx="716890" cy="330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B63B2F6-C1C2-FDAB-4CC1-A6ABEBEE0320}"/>
              </a:ext>
            </a:extLst>
          </p:cNvPr>
          <p:cNvSpPr/>
          <p:nvPr/>
        </p:nvSpPr>
        <p:spPr>
          <a:xfrm>
            <a:off x="3859175" y="5287053"/>
            <a:ext cx="209092" cy="209093"/>
          </a:xfrm>
          <a:prstGeom prst="ellipse">
            <a:avLst/>
          </a:prstGeom>
          <a:solidFill>
            <a:srgbClr val="F2F2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76">
                <a:solidFill>
                  <a:srgbClr val="3C3C4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+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1934B3F-F07C-7502-3F68-45765BB2D551}"/>
              </a:ext>
            </a:extLst>
          </p:cNvPr>
          <p:cNvSpPr/>
          <p:nvPr/>
        </p:nvSpPr>
        <p:spPr>
          <a:xfrm>
            <a:off x="4119067" y="5287053"/>
            <a:ext cx="1572158" cy="2090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 cap="flat" cmpd="sng" algn="ctr">
            <a:solidFill>
              <a:srgbClr val="D1D1D6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0" rIns="0" bIns="0" rtlCol="0" anchor="ctr"/>
          <a:lstStyle/>
          <a:p>
            <a:r>
              <a:rPr lang="en-US" sz="659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Text Message • SMS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F299973-788E-CBEA-036C-79A66584F5B1}"/>
              </a:ext>
            </a:extLst>
          </p:cNvPr>
          <p:cNvSpPr txBox="1"/>
          <p:nvPr/>
        </p:nvSpPr>
        <p:spPr>
          <a:xfrm>
            <a:off x="3779520" y="4257527"/>
            <a:ext cx="1991360" cy="17363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564" b="1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Text Message</a:t>
            </a:r>
          </a:p>
          <a:p>
            <a:pPr algn="ctr"/>
            <a:r>
              <a:rPr lang="en-US" sz="564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Today 10:12 AM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A1D5CEB-89A5-41F9-D757-E87D4DD13245}"/>
              </a:ext>
            </a:extLst>
          </p:cNvPr>
          <p:cNvSpPr/>
          <p:nvPr/>
        </p:nvSpPr>
        <p:spPr>
          <a:xfrm>
            <a:off x="3869131" y="4475614"/>
            <a:ext cx="1672743" cy="722539"/>
          </a:xfrm>
          <a:prstGeom prst="roundRect">
            <a:avLst>
              <a:gd name="adj" fmla="val 15819"/>
            </a:avLst>
          </a:prstGeom>
          <a:solidFill>
            <a:srgbClr val="E9E9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t">
            <a:spAutoFit/>
          </a:bodyPr>
          <a:lstStyle/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کاربر گرامی، درخواست شما با کد پیگیری </a:t>
            </a:r>
            <a:r>
              <a:rPr lang="en-US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REQ00020265 </a:t>
            </a: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تایید شد.</a:t>
            </a:r>
          </a:p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اداره کل بنادر و دریانوردی استان هرمزگان</a:t>
            </a:r>
          </a:p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1405/08/03 10:12:40 ق.ظ</a:t>
            </a:r>
            <a:endParaRPr lang="en-US" sz="753">
              <a:solidFill>
                <a:srgbClr val="1C1C1E"/>
              </a:solidFill>
              <a:latin typeface="Segoe UI" panose="020B0502040204020203" pitchFamily="34" charset="0"/>
              <a:cs typeface="Tahoma" panose="020B060403050404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09E60F-E4BA-5405-F145-671DA76B3EC1}"/>
              </a:ext>
            </a:extLst>
          </p:cNvPr>
          <p:cNvSpPr txBox="1"/>
          <p:nvPr/>
        </p:nvSpPr>
        <p:spPr>
          <a:xfrm>
            <a:off x="1143000" y="5918199"/>
            <a:ext cx="2387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sz="13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کد تایید یکبارمصرف</a:t>
            </a:r>
            <a:endParaRPr lang="en-US" sz="13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F0DE77-2302-9807-B65F-930F7FB0665B}"/>
              </a:ext>
            </a:extLst>
          </p:cNvPr>
          <p:cNvSpPr txBox="1"/>
          <p:nvPr/>
        </p:nvSpPr>
        <p:spPr>
          <a:xfrm>
            <a:off x="3581400" y="5918199"/>
            <a:ext cx="2387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sz="13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نمونه‌ی پیامک تایید</a:t>
            </a:r>
            <a:endParaRPr lang="en-US" sz="13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E1EDCAC-CC33-087D-E09A-F3BAEB5F1B34}"/>
              </a:ext>
            </a:extLst>
          </p:cNvPr>
          <p:cNvSpPr/>
          <p:nvPr/>
        </p:nvSpPr>
        <p:spPr>
          <a:xfrm>
            <a:off x="11150600" y="1498600"/>
            <a:ext cx="533400" cy="5334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171E38CC-AA9F-6792-E2CE-B3737882FCF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614" y="1610614"/>
            <a:ext cx="309372" cy="309372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E73622C1-D498-3504-1C63-575E0B6F7ABB}"/>
              </a:ext>
            </a:extLst>
          </p:cNvPr>
          <p:cNvSpPr txBox="1"/>
          <p:nvPr/>
        </p:nvSpPr>
        <p:spPr>
          <a:xfrm>
            <a:off x="6350000" y="1485900"/>
            <a:ext cx="46228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کد تایید</a:t>
            </a:r>
            <a:endParaRPr lang="en-US" sz="19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297456B-00DC-569E-5CD0-194E3FC3B6BE}"/>
              </a:ext>
            </a:extLst>
          </p:cNvPr>
          <p:cNvSpPr txBox="1"/>
          <p:nvPr/>
        </p:nvSpPr>
        <p:spPr>
          <a:xfrm>
            <a:off x="6350000" y="1841500"/>
            <a:ext cx="46228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هنگام ثبت و پیگیری، برای تایید شماره موبایل</a:t>
            </a:r>
            <a:endParaRPr lang="en-US" sz="15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D07D29F-5518-5DBD-36F0-38D6F48CBB3B}"/>
              </a:ext>
            </a:extLst>
          </p:cNvPr>
          <p:cNvSpPr/>
          <p:nvPr/>
        </p:nvSpPr>
        <p:spPr>
          <a:xfrm>
            <a:off x="11150600" y="2387600"/>
            <a:ext cx="533400" cy="5334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BB7EFEDD-F825-3A8A-B0A3-F1FD6CC0EDB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614" y="2499614"/>
            <a:ext cx="309372" cy="309372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52A96D0-401D-0A61-F231-E8D19DEBF27E}"/>
              </a:ext>
            </a:extLst>
          </p:cNvPr>
          <p:cNvSpPr txBox="1"/>
          <p:nvPr/>
        </p:nvSpPr>
        <p:spPr>
          <a:xfrm>
            <a:off x="6350000" y="2374900"/>
            <a:ext cx="46228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ثبت درخواست</a:t>
            </a:r>
            <a:endParaRPr lang="en-US" sz="19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FFE5B4F-FE15-9075-5537-8B9FC8698E61}"/>
              </a:ext>
            </a:extLst>
          </p:cNvPr>
          <p:cNvSpPr txBox="1"/>
          <p:nvPr/>
        </p:nvSpPr>
        <p:spPr>
          <a:xfrm>
            <a:off x="6350000" y="2730500"/>
            <a:ext cx="46228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همراه با کد پیگیری</a:t>
            </a:r>
            <a:endParaRPr lang="en-US" sz="15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8644E0B-B5F4-77E7-57FF-D5B974DDD9CD}"/>
              </a:ext>
            </a:extLst>
          </p:cNvPr>
          <p:cNvSpPr/>
          <p:nvPr/>
        </p:nvSpPr>
        <p:spPr>
          <a:xfrm>
            <a:off x="11150600" y="3276600"/>
            <a:ext cx="533400" cy="5334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EE4EE9D2-9A5D-D174-A7B9-E46A5846C16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614" y="3388614"/>
            <a:ext cx="309372" cy="309372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E11CAF3D-DBEF-7C16-86D7-70F4FD6FB89D}"/>
              </a:ext>
            </a:extLst>
          </p:cNvPr>
          <p:cNvSpPr txBox="1"/>
          <p:nvPr/>
        </p:nvSpPr>
        <p:spPr>
          <a:xfrm>
            <a:off x="6350000" y="3263900"/>
            <a:ext cx="46228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تعیین نوبت</a:t>
            </a:r>
            <a:endParaRPr lang="en-US" sz="19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CB1DBA-ACE5-6950-2AB2-DC7985CD6A44}"/>
              </a:ext>
            </a:extLst>
          </p:cNvPr>
          <p:cNvSpPr txBox="1"/>
          <p:nvPr/>
        </p:nvSpPr>
        <p:spPr>
          <a:xfrm>
            <a:off x="6350000" y="3619500"/>
            <a:ext cx="46228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روز، تاریخ، ساعت و محوطه‌ی ارزیابی</a:t>
            </a:r>
            <a:endParaRPr lang="en-US" sz="15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BD3B1BB-3120-6A10-CF0F-3096EAE15832}"/>
              </a:ext>
            </a:extLst>
          </p:cNvPr>
          <p:cNvSpPr/>
          <p:nvPr/>
        </p:nvSpPr>
        <p:spPr>
          <a:xfrm>
            <a:off x="11150600" y="4165600"/>
            <a:ext cx="533400" cy="5334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A4EA4D65-3DDC-CFAB-D2F6-22D463738EBB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614" y="4277614"/>
            <a:ext cx="309372" cy="309372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36DBA58C-DC94-0A61-2274-CDA75D91D35D}"/>
              </a:ext>
            </a:extLst>
          </p:cNvPr>
          <p:cNvSpPr txBox="1"/>
          <p:nvPr/>
        </p:nvSpPr>
        <p:spPr>
          <a:xfrm>
            <a:off x="6350000" y="4152900"/>
            <a:ext cx="46228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تایید درخواست</a:t>
            </a:r>
            <a:endParaRPr lang="en-US" sz="19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938101A-9520-7188-56FF-32C6A0D1925A}"/>
              </a:ext>
            </a:extLst>
          </p:cNvPr>
          <p:cNvSpPr txBox="1"/>
          <p:nvPr/>
        </p:nvSpPr>
        <p:spPr>
          <a:xfrm>
            <a:off x="6350000" y="4508500"/>
            <a:ext cx="46228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اعلام نتیجه‌ی بررسی کارشناس</a:t>
            </a:r>
            <a:endParaRPr lang="en-US" sz="15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D3162AC-9FC6-4524-5BC4-1BC5DDF3E98A}"/>
              </a:ext>
            </a:extLst>
          </p:cNvPr>
          <p:cNvSpPr/>
          <p:nvPr/>
        </p:nvSpPr>
        <p:spPr>
          <a:xfrm>
            <a:off x="11150600" y="5054600"/>
            <a:ext cx="533400" cy="533400"/>
          </a:xfrm>
          <a:prstGeom prst="ellipse">
            <a:avLst/>
          </a:prstGeom>
          <a:solidFill>
            <a:srgbClr val="C9DB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8CE12588-394A-4B5D-2D4E-0492B0C9E5B8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614" y="5166614"/>
            <a:ext cx="309372" cy="309372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6C56D81B-D989-8F15-4334-D9E48C25BD15}"/>
              </a:ext>
            </a:extLst>
          </p:cNvPr>
          <p:cNvSpPr txBox="1"/>
          <p:nvPr/>
        </p:nvSpPr>
        <p:spPr>
          <a:xfrm>
            <a:off x="6350000" y="5041900"/>
            <a:ext cx="46228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رد درخواست</a:t>
            </a:r>
            <a:endParaRPr lang="en-US" sz="19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DA45DE3-3C9C-FFC5-641E-9B68D3A185A4}"/>
              </a:ext>
            </a:extLst>
          </p:cNvPr>
          <p:cNvSpPr txBox="1"/>
          <p:nvPr/>
        </p:nvSpPr>
        <p:spPr>
          <a:xfrm>
            <a:off x="6350000" y="5397500"/>
            <a:ext cx="46228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همراه با دلیل، تا متقاضی بداند چه چیزی ایراد دارد</a:t>
            </a:r>
            <a:endParaRPr lang="en-US" sz="15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7F59638-B1B1-1116-3C71-5D2CAB48CCA2}"/>
              </a:ext>
            </a:extLst>
          </p:cNvPr>
          <p:cNvSpPr txBox="1"/>
          <p:nvPr/>
        </p:nvSpPr>
        <p:spPr>
          <a:xfrm>
            <a:off x="5588000" y="6426200"/>
            <a:ext cx="609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سامانه احراز اصالت سند و قبض انبار · بنادر و دریانوردی هرمزگان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A62EF79-86CC-BDD9-BBE2-46D3714111C9}"/>
              </a:ext>
            </a:extLst>
          </p:cNvPr>
          <p:cNvSpPr txBox="1"/>
          <p:nvPr/>
        </p:nvSpPr>
        <p:spPr>
          <a:xfrm>
            <a:off x="508000" y="6426200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۱۱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91743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C85501-BB58-DFB9-7536-55A5BACD8371}"/>
              </a:ext>
            </a:extLst>
          </p:cNvPr>
          <p:cNvSpPr txBox="1"/>
          <p:nvPr/>
        </p:nvSpPr>
        <p:spPr>
          <a:xfrm>
            <a:off x="2540000" y="279400"/>
            <a:ext cx="9144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3400" b="1" dirty="0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ثبت درخواست قبض انبار </a:t>
            </a:r>
            <a:endParaRPr lang="en-US" sz="3400" b="1" dirty="0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2E3AA2-57F9-0595-5CA5-B92274F7E88B}"/>
              </a:ext>
            </a:extLst>
          </p:cNvPr>
          <p:cNvSpPr/>
          <p:nvPr/>
        </p:nvSpPr>
        <p:spPr>
          <a:xfrm>
            <a:off x="508000" y="4064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4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قبض انبار</a:t>
            </a:r>
            <a:endParaRPr lang="en-US" sz="14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48EE2C-9E85-62FA-548B-27DC367B501A}"/>
              </a:ext>
            </a:extLst>
          </p:cNvPr>
          <p:cNvSpPr/>
          <p:nvPr/>
        </p:nvSpPr>
        <p:spPr>
          <a:xfrm>
            <a:off x="9530080" y="2308860"/>
            <a:ext cx="38100" cy="221615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02486B2-FD4A-1EC8-B6CA-E458C1C73D88}"/>
              </a:ext>
            </a:extLst>
          </p:cNvPr>
          <p:cNvSpPr/>
          <p:nvPr/>
        </p:nvSpPr>
        <p:spPr>
          <a:xfrm>
            <a:off x="9530080" y="2663444"/>
            <a:ext cx="38100" cy="398907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B76A02-53E5-9A3F-9B8B-3FFF71DAF87A}"/>
              </a:ext>
            </a:extLst>
          </p:cNvPr>
          <p:cNvSpPr/>
          <p:nvPr/>
        </p:nvSpPr>
        <p:spPr>
          <a:xfrm>
            <a:off x="9530080" y="3150997"/>
            <a:ext cx="38100" cy="398907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B373B1-7274-3455-3B12-266BF26B99AE}"/>
              </a:ext>
            </a:extLst>
          </p:cNvPr>
          <p:cNvSpPr/>
          <p:nvPr/>
        </p:nvSpPr>
        <p:spPr>
          <a:xfrm>
            <a:off x="11666220" y="2752090"/>
            <a:ext cx="38100" cy="576199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05D1AD-43E4-F6CD-91B9-3E5FBB2C34FF}"/>
              </a:ext>
            </a:extLst>
          </p:cNvPr>
          <p:cNvSpPr/>
          <p:nvPr/>
        </p:nvSpPr>
        <p:spPr>
          <a:xfrm>
            <a:off x="9550400" y="1422400"/>
            <a:ext cx="2133600" cy="4432300"/>
          </a:xfrm>
          <a:prstGeom prst="roundRect">
            <a:avLst>
              <a:gd name="adj" fmla="val 165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>
            <a:outerShdw blurRad="203200" dist="88900" dir="5400000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3F6847-8B42-B662-83B4-3D98D544C32F}"/>
              </a:ext>
            </a:extLst>
          </p:cNvPr>
          <p:cNvSpPr/>
          <p:nvPr/>
        </p:nvSpPr>
        <p:spPr>
          <a:xfrm>
            <a:off x="9578340" y="1450340"/>
            <a:ext cx="2077721" cy="4376420"/>
          </a:xfrm>
          <a:prstGeom prst="roundRect">
            <a:avLst>
              <a:gd name="adj" fmla="val 15917"/>
            </a:avLst>
          </a:prstGeom>
          <a:solidFill>
            <a:srgbClr val="0A0A0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0084814-FD5B-9C8F-563A-203EE38A5A7A}"/>
              </a:ext>
            </a:extLst>
          </p:cNvPr>
          <p:cNvSpPr/>
          <p:nvPr/>
        </p:nvSpPr>
        <p:spPr>
          <a:xfrm>
            <a:off x="9621520" y="1493520"/>
            <a:ext cx="1991360" cy="4290060"/>
          </a:xfrm>
          <a:prstGeom prst="roundRect">
            <a:avLst>
              <a:gd name="adj" fmla="val 15536"/>
            </a:avLst>
          </a:prstGeom>
          <a:blipFill>
            <a:blip r:embed="rId3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7918BE-C51B-DB41-AF9E-372657B95BBD}"/>
              </a:ext>
            </a:extLst>
          </p:cNvPr>
          <p:cNvSpPr/>
          <p:nvPr/>
        </p:nvSpPr>
        <p:spPr>
          <a:xfrm>
            <a:off x="10288625" y="1562161"/>
            <a:ext cx="657150" cy="189179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BC156E-CF37-B036-206A-CF5C66E4C715}"/>
              </a:ext>
            </a:extLst>
          </p:cNvPr>
          <p:cNvSpPr txBox="1"/>
          <p:nvPr/>
        </p:nvSpPr>
        <p:spPr>
          <a:xfrm>
            <a:off x="9800742" y="1646674"/>
            <a:ext cx="438099" cy="18917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784" b="1">
                <a:solidFill>
                  <a:srgbClr val="000000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11:46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011C82A-735C-BBBD-5C4B-F81C110644ED}"/>
              </a:ext>
            </a:extLst>
          </p:cNvPr>
          <p:cNvSpPr/>
          <p:nvPr/>
        </p:nvSpPr>
        <p:spPr>
          <a:xfrm>
            <a:off x="11015472" y="1651075"/>
            <a:ext cx="21590" cy="4729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029E5ED-DEE6-489D-054A-B6FBDD5A1714}"/>
              </a:ext>
            </a:extLst>
          </p:cNvPr>
          <p:cNvSpPr/>
          <p:nvPr/>
        </p:nvSpPr>
        <p:spPr>
          <a:xfrm>
            <a:off x="11048492" y="1626482"/>
            <a:ext cx="21590" cy="71888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9403CBE-D347-2FB8-C75D-FAA8B0A05520}"/>
              </a:ext>
            </a:extLst>
          </p:cNvPr>
          <p:cNvSpPr/>
          <p:nvPr/>
        </p:nvSpPr>
        <p:spPr>
          <a:xfrm>
            <a:off x="11081512" y="1601889"/>
            <a:ext cx="21590" cy="96481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73D5233-9A3E-F1AB-D86C-7A5571C3BDB6}"/>
              </a:ext>
            </a:extLst>
          </p:cNvPr>
          <p:cNvSpPr/>
          <p:nvPr/>
        </p:nvSpPr>
        <p:spPr>
          <a:xfrm>
            <a:off x="11114532" y="1577295"/>
            <a:ext cx="21590" cy="12107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87ACC4A-4FC1-E39C-CAF7-55E78784968A}"/>
              </a:ext>
            </a:extLst>
          </p:cNvPr>
          <p:cNvSpPr/>
          <p:nvPr/>
        </p:nvSpPr>
        <p:spPr>
          <a:xfrm>
            <a:off x="11214608" y="1615131"/>
            <a:ext cx="169265" cy="88914"/>
          </a:xfrm>
          <a:prstGeom prst="roundRect">
            <a:avLst>
              <a:gd name="adj" fmla="val 3142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502" b="1">
                <a:solidFill>
                  <a:srgbClr val="FFFFFF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89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BD3B4ED-5DEB-F326-3224-784AD501C177}"/>
              </a:ext>
            </a:extLst>
          </p:cNvPr>
          <p:cNvSpPr/>
          <p:nvPr/>
        </p:nvSpPr>
        <p:spPr>
          <a:xfrm>
            <a:off x="11388954" y="1641616"/>
            <a:ext cx="13969" cy="37836"/>
          </a:xfrm>
          <a:prstGeom prst="roundRect">
            <a:avLst>
              <a:gd name="adj" fmla="val 45455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27DF13F-2F07-5D48-D89E-946EA5917CBB}"/>
              </a:ext>
            </a:extLst>
          </p:cNvPr>
          <p:cNvSpPr/>
          <p:nvPr/>
        </p:nvSpPr>
        <p:spPr>
          <a:xfrm>
            <a:off x="10258755" y="5689199"/>
            <a:ext cx="716890" cy="330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3443A75-28DD-A7E6-9606-7C2B84391CA2}"/>
              </a:ext>
            </a:extLst>
          </p:cNvPr>
          <p:cNvSpPr/>
          <p:nvPr/>
        </p:nvSpPr>
        <p:spPr>
          <a:xfrm>
            <a:off x="8877300" y="1473200"/>
            <a:ext cx="457200" cy="4572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7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۱</a:t>
            </a:r>
            <a:endParaRPr lang="en-US" sz="17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7247FC-A12F-5AD8-8763-88F7EC4E9D53}"/>
              </a:ext>
            </a:extLst>
          </p:cNvPr>
          <p:cNvSpPr txBox="1"/>
          <p:nvPr/>
        </p:nvSpPr>
        <p:spPr>
          <a:xfrm>
            <a:off x="6350000" y="1523999"/>
            <a:ext cx="2438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0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احراز هویت متقاضی</a:t>
            </a:r>
            <a:endParaRPr lang="en-US" sz="20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C61825C-77EF-B756-A324-01E363093C7E}"/>
              </a:ext>
            </a:extLst>
          </p:cNvPr>
          <p:cNvSpPr/>
          <p:nvPr/>
        </p:nvSpPr>
        <p:spPr>
          <a:xfrm>
            <a:off x="9207500" y="2298700"/>
            <a:ext cx="101600" cy="101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DDB50D-455D-CE03-FBA1-DF6B781D7425}"/>
              </a:ext>
            </a:extLst>
          </p:cNvPr>
          <p:cNvSpPr txBox="1"/>
          <p:nvPr/>
        </p:nvSpPr>
        <p:spPr>
          <a:xfrm>
            <a:off x="6350000" y="2184399"/>
            <a:ext cx="27432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کد ملی و شماره موبایل را وارد می‌کند</a:t>
            </a:r>
            <a:endParaRPr lang="en-US" sz="16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8F1147F-C683-4D69-73B1-18913AD66315}"/>
              </a:ext>
            </a:extLst>
          </p:cNvPr>
          <p:cNvSpPr/>
          <p:nvPr/>
        </p:nvSpPr>
        <p:spPr>
          <a:xfrm>
            <a:off x="9207500" y="3086100"/>
            <a:ext cx="101600" cy="101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D57C68-0661-8D62-7E3D-564C3FD9DF52}"/>
              </a:ext>
            </a:extLst>
          </p:cNvPr>
          <p:cNvSpPr txBox="1"/>
          <p:nvPr/>
        </p:nvSpPr>
        <p:spPr>
          <a:xfrm>
            <a:off x="6350000" y="2971799"/>
            <a:ext cx="27432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کد تایید ۶ رقمی پیامک می‌شود و در همین صفحه وارد می‌شود</a:t>
            </a:r>
            <a:endParaRPr lang="en-US" sz="16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D7AFCDA-388E-8320-62D9-556701524F6E}"/>
              </a:ext>
            </a:extLst>
          </p:cNvPr>
          <p:cNvSpPr/>
          <p:nvPr/>
        </p:nvSpPr>
        <p:spPr>
          <a:xfrm>
            <a:off x="9207500" y="3873500"/>
            <a:ext cx="101600" cy="101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D2B196-B655-F70E-A824-7926DD8128C7}"/>
              </a:ext>
            </a:extLst>
          </p:cNvPr>
          <p:cNvSpPr txBox="1"/>
          <p:nvPr/>
        </p:nvSpPr>
        <p:spPr>
          <a:xfrm>
            <a:off x="6350000" y="3759199"/>
            <a:ext cx="27432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تطابق کد ملی و موبایل با سامانه‌ی شاهکار سنجیده می‌شود</a:t>
            </a:r>
            <a:endParaRPr lang="en-US" sz="16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45330BC-150A-CEAF-40D2-642BEE3726C7}"/>
              </a:ext>
            </a:extLst>
          </p:cNvPr>
          <p:cNvSpPr/>
          <p:nvPr/>
        </p:nvSpPr>
        <p:spPr>
          <a:xfrm>
            <a:off x="6350000" y="4699000"/>
            <a:ext cx="2870200" cy="1168400"/>
          </a:xfrm>
          <a:prstGeom prst="roundRect">
            <a:avLst>
              <a:gd name="adj" fmla="val 15217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941AA80-3482-2765-7AB9-36B5101D5B5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8400" y="4902200"/>
            <a:ext cx="279400" cy="279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3E05EA3-1E5D-3518-4311-1B90FA02A3E7}"/>
              </a:ext>
            </a:extLst>
          </p:cNvPr>
          <p:cNvSpPr txBox="1"/>
          <p:nvPr/>
        </p:nvSpPr>
        <p:spPr>
          <a:xfrm>
            <a:off x="6527800" y="4876799"/>
            <a:ext cx="21844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همین شماره، راه پیگیری و دریافت پیامک‌های بعدی است</a:t>
            </a:r>
            <a:endParaRPr lang="en-US" sz="15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B1E1187-AD21-EB99-9769-A836D68E2E6B}"/>
              </a:ext>
            </a:extLst>
          </p:cNvPr>
          <p:cNvSpPr/>
          <p:nvPr/>
        </p:nvSpPr>
        <p:spPr>
          <a:xfrm>
            <a:off x="3586480" y="2308860"/>
            <a:ext cx="38100" cy="221615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0D4F5AC-D53A-BED2-1859-D5694C8DEF8B}"/>
              </a:ext>
            </a:extLst>
          </p:cNvPr>
          <p:cNvSpPr/>
          <p:nvPr/>
        </p:nvSpPr>
        <p:spPr>
          <a:xfrm>
            <a:off x="3586480" y="2663444"/>
            <a:ext cx="38100" cy="398907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4411A24-14BC-FEB3-8899-92B4F10CF173}"/>
              </a:ext>
            </a:extLst>
          </p:cNvPr>
          <p:cNvSpPr/>
          <p:nvPr/>
        </p:nvSpPr>
        <p:spPr>
          <a:xfrm>
            <a:off x="3586480" y="3150997"/>
            <a:ext cx="38100" cy="398907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097F221-9B7A-6993-4763-818505DF6D4E}"/>
              </a:ext>
            </a:extLst>
          </p:cNvPr>
          <p:cNvSpPr/>
          <p:nvPr/>
        </p:nvSpPr>
        <p:spPr>
          <a:xfrm>
            <a:off x="5722620" y="2752090"/>
            <a:ext cx="38100" cy="576199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FEBCD44-4FB6-6D6D-F9D6-FBA9AFB9356D}"/>
              </a:ext>
            </a:extLst>
          </p:cNvPr>
          <p:cNvSpPr/>
          <p:nvPr/>
        </p:nvSpPr>
        <p:spPr>
          <a:xfrm>
            <a:off x="3606800" y="1422400"/>
            <a:ext cx="2133600" cy="4432300"/>
          </a:xfrm>
          <a:prstGeom prst="roundRect">
            <a:avLst>
              <a:gd name="adj" fmla="val 165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>
            <a:outerShdw blurRad="203200" dist="88900" dir="5400000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C2BCC42-3710-FA12-8184-0918F88E29BC}"/>
              </a:ext>
            </a:extLst>
          </p:cNvPr>
          <p:cNvSpPr/>
          <p:nvPr/>
        </p:nvSpPr>
        <p:spPr>
          <a:xfrm>
            <a:off x="3634740" y="1450340"/>
            <a:ext cx="2077720" cy="4376420"/>
          </a:xfrm>
          <a:prstGeom prst="roundRect">
            <a:avLst>
              <a:gd name="adj" fmla="val 15917"/>
            </a:avLst>
          </a:prstGeom>
          <a:solidFill>
            <a:srgbClr val="0A0A0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34C6041-B5AA-F834-0E5A-F2C458C1F963}"/>
              </a:ext>
            </a:extLst>
          </p:cNvPr>
          <p:cNvSpPr/>
          <p:nvPr/>
        </p:nvSpPr>
        <p:spPr>
          <a:xfrm>
            <a:off x="3677920" y="1493520"/>
            <a:ext cx="1991360" cy="4290060"/>
          </a:xfrm>
          <a:prstGeom prst="roundRect">
            <a:avLst>
              <a:gd name="adj" fmla="val 15536"/>
            </a:avLst>
          </a:prstGeom>
          <a:blipFill>
            <a:blip r:embed="rId5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22E6106-45CA-8BD3-8F20-DAFF7D1C82D2}"/>
              </a:ext>
            </a:extLst>
          </p:cNvPr>
          <p:cNvSpPr/>
          <p:nvPr/>
        </p:nvSpPr>
        <p:spPr>
          <a:xfrm>
            <a:off x="4345025" y="1562161"/>
            <a:ext cx="657149" cy="189179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6A74D0-ED0C-8290-7E06-3A3745559B25}"/>
              </a:ext>
            </a:extLst>
          </p:cNvPr>
          <p:cNvSpPr txBox="1"/>
          <p:nvPr/>
        </p:nvSpPr>
        <p:spPr>
          <a:xfrm>
            <a:off x="3857142" y="1646674"/>
            <a:ext cx="438099" cy="18917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784" b="1">
                <a:solidFill>
                  <a:srgbClr val="000000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11:46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80E0F42-E4DD-B760-1808-0BBA4DB048A3}"/>
              </a:ext>
            </a:extLst>
          </p:cNvPr>
          <p:cNvSpPr/>
          <p:nvPr/>
        </p:nvSpPr>
        <p:spPr>
          <a:xfrm>
            <a:off x="5071872" y="1651075"/>
            <a:ext cx="21590" cy="4729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1BDADF7-48DD-83C0-6CB0-9BF384C97F8B}"/>
              </a:ext>
            </a:extLst>
          </p:cNvPr>
          <p:cNvSpPr/>
          <p:nvPr/>
        </p:nvSpPr>
        <p:spPr>
          <a:xfrm>
            <a:off x="5104892" y="1626482"/>
            <a:ext cx="21590" cy="71888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C23D5C7-1793-A658-C0E5-15435C541820}"/>
              </a:ext>
            </a:extLst>
          </p:cNvPr>
          <p:cNvSpPr/>
          <p:nvPr/>
        </p:nvSpPr>
        <p:spPr>
          <a:xfrm>
            <a:off x="5137912" y="1601889"/>
            <a:ext cx="21590" cy="96481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AC68FC2-D73F-73A1-565F-8E2565BFCF02}"/>
              </a:ext>
            </a:extLst>
          </p:cNvPr>
          <p:cNvSpPr/>
          <p:nvPr/>
        </p:nvSpPr>
        <p:spPr>
          <a:xfrm>
            <a:off x="5170932" y="1577295"/>
            <a:ext cx="21590" cy="12107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7BB529D-0EB0-4E39-7797-A94211C2769D}"/>
              </a:ext>
            </a:extLst>
          </p:cNvPr>
          <p:cNvSpPr/>
          <p:nvPr/>
        </p:nvSpPr>
        <p:spPr>
          <a:xfrm>
            <a:off x="5271008" y="1615131"/>
            <a:ext cx="169266" cy="88914"/>
          </a:xfrm>
          <a:prstGeom prst="roundRect">
            <a:avLst>
              <a:gd name="adj" fmla="val 3142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502" b="1">
                <a:solidFill>
                  <a:srgbClr val="FFFFFF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89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6B5A322-6374-1187-9877-C024E6AFF718}"/>
              </a:ext>
            </a:extLst>
          </p:cNvPr>
          <p:cNvSpPr/>
          <p:nvPr/>
        </p:nvSpPr>
        <p:spPr>
          <a:xfrm>
            <a:off x="5445354" y="1641616"/>
            <a:ext cx="13970" cy="37836"/>
          </a:xfrm>
          <a:prstGeom prst="roundRect">
            <a:avLst>
              <a:gd name="adj" fmla="val 45455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2F6DA27-74A5-59C6-7D5F-A5D01BE86622}"/>
              </a:ext>
            </a:extLst>
          </p:cNvPr>
          <p:cNvSpPr/>
          <p:nvPr/>
        </p:nvSpPr>
        <p:spPr>
          <a:xfrm>
            <a:off x="4315155" y="5689199"/>
            <a:ext cx="716890" cy="330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09F2E98-DC38-A076-3FFF-5243D5414BC3}"/>
              </a:ext>
            </a:extLst>
          </p:cNvPr>
          <p:cNvSpPr/>
          <p:nvPr/>
        </p:nvSpPr>
        <p:spPr>
          <a:xfrm>
            <a:off x="3035300" y="1473200"/>
            <a:ext cx="457200" cy="4572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7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۲</a:t>
            </a:r>
            <a:endParaRPr lang="en-US" sz="17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983552-830F-5724-86F0-5533E21059FA}"/>
              </a:ext>
            </a:extLst>
          </p:cNvPr>
          <p:cNvSpPr txBox="1"/>
          <p:nvPr/>
        </p:nvSpPr>
        <p:spPr>
          <a:xfrm>
            <a:off x="508000" y="1523999"/>
            <a:ext cx="2438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0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اطلاعات سند و قبض انبار</a:t>
            </a:r>
            <a:endParaRPr lang="en-US" sz="20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A694229-BB5C-A3D6-FC3B-961F41001016}"/>
              </a:ext>
            </a:extLst>
          </p:cNvPr>
          <p:cNvSpPr/>
          <p:nvPr/>
        </p:nvSpPr>
        <p:spPr>
          <a:xfrm>
            <a:off x="3365500" y="2298700"/>
            <a:ext cx="101600" cy="101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CBBC66-33C2-8904-2260-90317A82275F}"/>
              </a:ext>
            </a:extLst>
          </p:cNvPr>
          <p:cNvSpPr txBox="1"/>
          <p:nvPr/>
        </p:nvSpPr>
        <p:spPr>
          <a:xfrm>
            <a:off x="508000" y="2184399"/>
            <a:ext cx="27432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شناسه ۱۸ رقمی و رمز تصدیق درج‌شده روی سند</a:t>
            </a:r>
            <a:endParaRPr lang="en-US" sz="16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47992CC-91DA-5EC5-10D1-CACA6A8E802E}"/>
              </a:ext>
            </a:extLst>
          </p:cNvPr>
          <p:cNvSpPr/>
          <p:nvPr/>
        </p:nvSpPr>
        <p:spPr>
          <a:xfrm>
            <a:off x="3365500" y="3086100"/>
            <a:ext cx="101600" cy="101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51A930-A0EA-8845-7DF3-3C7C6B47A6FA}"/>
              </a:ext>
            </a:extLst>
          </p:cNvPr>
          <p:cNvSpPr txBox="1"/>
          <p:nvPr/>
        </p:nvSpPr>
        <p:spPr>
          <a:xfrm>
            <a:off x="508000" y="2971799"/>
            <a:ext cx="27432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انتخاب شرکت و وارد کردن شماره قبض انبار</a:t>
            </a:r>
            <a:endParaRPr lang="en-US" sz="16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F8138D2-788C-A403-70B5-C90FE8238616}"/>
              </a:ext>
            </a:extLst>
          </p:cNvPr>
          <p:cNvSpPr/>
          <p:nvPr/>
        </p:nvSpPr>
        <p:spPr>
          <a:xfrm>
            <a:off x="3365500" y="3873500"/>
            <a:ext cx="101600" cy="101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64A84F-094F-0F95-8DC9-CAC254DA09AB}"/>
              </a:ext>
            </a:extLst>
          </p:cNvPr>
          <p:cNvSpPr txBox="1"/>
          <p:nvPr/>
        </p:nvSpPr>
        <p:spPr>
          <a:xfrm>
            <a:off x="508000" y="3759199"/>
            <a:ext cx="27432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مغایرت اطلاعات به رد خودکار درخواست منجر می‌شود</a:t>
            </a:r>
            <a:endParaRPr lang="en-US" sz="16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30A8CCC-4D92-3B7A-14C5-88A418C2CC3E}"/>
              </a:ext>
            </a:extLst>
          </p:cNvPr>
          <p:cNvSpPr/>
          <p:nvPr/>
        </p:nvSpPr>
        <p:spPr>
          <a:xfrm>
            <a:off x="508000" y="4699000"/>
            <a:ext cx="2870200" cy="1168400"/>
          </a:xfrm>
          <a:prstGeom prst="roundRect">
            <a:avLst>
              <a:gd name="adj" fmla="val 15217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4BD2F6F3-FBA4-9539-CEB3-6EA595A1183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0" y="4902200"/>
            <a:ext cx="279400" cy="2794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9161DA51-98E8-D1FF-86F4-5CA9E7929B10}"/>
              </a:ext>
            </a:extLst>
          </p:cNvPr>
          <p:cNvSpPr txBox="1"/>
          <p:nvPr/>
        </p:nvSpPr>
        <p:spPr>
          <a:xfrm>
            <a:off x="685800" y="4876799"/>
            <a:ext cx="21844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پس از ثبت، کد پیگیری نمایش داده و پیامک می‌شود</a:t>
            </a:r>
            <a:endParaRPr lang="en-US" sz="15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DC624AE-7333-A3BE-E9BC-02F17CCE027D}"/>
              </a:ext>
            </a:extLst>
          </p:cNvPr>
          <p:cNvSpPr txBox="1"/>
          <p:nvPr/>
        </p:nvSpPr>
        <p:spPr>
          <a:xfrm>
            <a:off x="5588000" y="6426200"/>
            <a:ext cx="609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سامانه احراز اصالت سند و قبض انبار · بنادر و دریانوردی هرمزگان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BEAA5-678B-6E57-88A0-3CB8552058DB}"/>
              </a:ext>
            </a:extLst>
          </p:cNvPr>
          <p:cNvSpPr txBox="1"/>
          <p:nvPr/>
        </p:nvSpPr>
        <p:spPr>
          <a:xfrm>
            <a:off x="508000" y="6426200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۵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79474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44AC96-8291-D734-36B1-F01C5A4995F4}"/>
              </a:ext>
            </a:extLst>
          </p:cNvPr>
          <p:cNvSpPr txBox="1"/>
          <p:nvPr/>
        </p:nvSpPr>
        <p:spPr>
          <a:xfrm>
            <a:off x="2540000" y="279400"/>
            <a:ext cx="9144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34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کارتابل کارشناس</a:t>
            </a:r>
            <a:endParaRPr lang="en-US" sz="34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1E7D2C-924D-0E31-BFFA-479830521CDE}"/>
              </a:ext>
            </a:extLst>
          </p:cNvPr>
          <p:cNvSpPr txBox="1"/>
          <p:nvPr/>
        </p:nvSpPr>
        <p:spPr>
          <a:xfrm>
            <a:off x="508000" y="965199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هر کارشناس، درخواست‌های شرکت‌های مربوط به خود را در یک صفحه بررسی می‌کند</a:t>
            </a:r>
            <a:endParaRPr lang="en-US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2EB5F64-6098-B395-86BC-E2CF5894B682}"/>
              </a:ext>
            </a:extLst>
          </p:cNvPr>
          <p:cNvSpPr/>
          <p:nvPr/>
        </p:nvSpPr>
        <p:spPr>
          <a:xfrm>
            <a:off x="508000" y="4064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4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قبض انبار</a:t>
            </a:r>
            <a:endParaRPr lang="en-US" sz="14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E2573C-375E-E30A-2339-1BC9B1026ADF}"/>
              </a:ext>
            </a:extLst>
          </p:cNvPr>
          <p:cNvSpPr/>
          <p:nvPr/>
        </p:nvSpPr>
        <p:spPr>
          <a:xfrm>
            <a:off x="8128000" y="1498600"/>
            <a:ext cx="3556000" cy="2082800"/>
          </a:xfrm>
          <a:prstGeom prst="roundRect">
            <a:avLst>
              <a:gd name="adj" fmla="val 9756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6B8259-46C1-DF2A-1ACD-6AAE022637D2}"/>
              </a:ext>
            </a:extLst>
          </p:cNvPr>
          <p:cNvSpPr/>
          <p:nvPr/>
        </p:nvSpPr>
        <p:spPr>
          <a:xfrm>
            <a:off x="10845800" y="1727200"/>
            <a:ext cx="609600" cy="609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143590-642B-8282-C03D-4B96EB346F2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816" y="1855216"/>
            <a:ext cx="353568" cy="3535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51C984-47C4-AA97-E0B7-7BC5D1A8C8D0}"/>
              </a:ext>
            </a:extLst>
          </p:cNvPr>
          <p:cNvSpPr txBox="1"/>
          <p:nvPr/>
        </p:nvSpPr>
        <p:spPr>
          <a:xfrm>
            <a:off x="8356600" y="1854199"/>
            <a:ext cx="2362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0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برداشتن درخواست</a:t>
            </a:r>
            <a:endParaRPr lang="en-US" sz="20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EFABB6-9B90-86A3-4625-7FA57F4ECC0D}"/>
              </a:ext>
            </a:extLst>
          </p:cNvPr>
          <p:cNvSpPr txBox="1"/>
          <p:nvPr/>
        </p:nvSpPr>
        <p:spPr>
          <a:xfrm>
            <a:off x="8356600" y="2514599"/>
            <a:ext cx="3098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هر درخواست فقط به یک کارشناس سپرده می‌شود؛ بدون دوباره‌کاری</a:t>
            </a:r>
            <a:endParaRPr lang="en-US" sz="16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082FE23-D365-525F-22F5-357F35B0836A}"/>
              </a:ext>
            </a:extLst>
          </p:cNvPr>
          <p:cNvSpPr/>
          <p:nvPr/>
        </p:nvSpPr>
        <p:spPr>
          <a:xfrm>
            <a:off x="4318000" y="1498600"/>
            <a:ext cx="3556000" cy="2082800"/>
          </a:xfrm>
          <a:prstGeom prst="roundRect">
            <a:avLst>
              <a:gd name="adj" fmla="val 9756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7777524-AFDC-595A-C8F3-7B2F46C684C3}"/>
              </a:ext>
            </a:extLst>
          </p:cNvPr>
          <p:cNvSpPr/>
          <p:nvPr/>
        </p:nvSpPr>
        <p:spPr>
          <a:xfrm>
            <a:off x="7035800" y="1727200"/>
            <a:ext cx="609600" cy="609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BFE974D-497C-5537-A51F-D1C95083320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816" y="1855216"/>
            <a:ext cx="353568" cy="3535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D354375-BD4F-503E-92A4-559A2CFE8BF1}"/>
              </a:ext>
            </a:extLst>
          </p:cNvPr>
          <p:cNvSpPr txBox="1"/>
          <p:nvPr/>
        </p:nvSpPr>
        <p:spPr>
          <a:xfrm>
            <a:off x="4546600" y="1854199"/>
            <a:ext cx="2362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0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مشاهده‌ی متن سند</a:t>
            </a:r>
            <a:endParaRPr lang="en-US" sz="20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B7CEB7-5080-E9AB-7862-FA5153B750B4}"/>
              </a:ext>
            </a:extLst>
          </p:cNvPr>
          <p:cNvSpPr txBox="1"/>
          <p:nvPr/>
        </p:nvSpPr>
        <p:spPr>
          <a:xfrm>
            <a:off x="4546600" y="2514599"/>
            <a:ext cx="3098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متن رسمی سند نمایش داده می‌شود و کارشناس بررسی آن را تایید می‌کند</a:t>
            </a:r>
            <a:endParaRPr lang="en-US" sz="16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F49B7D-BE37-54CC-D698-19967436A2E5}"/>
              </a:ext>
            </a:extLst>
          </p:cNvPr>
          <p:cNvSpPr/>
          <p:nvPr/>
        </p:nvSpPr>
        <p:spPr>
          <a:xfrm>
            <a:off x="508000" y="1498600"/>
            <a:ext cx="3556000" cy="2082800"/>
          </a:xfrm>
          <a:prstGeom prst="roundRect">
            <a:avLst>
              <a:gd name="adj" fmla="val 9756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EC450EA-1D5E-5059-7E36-77AF39ABF526}"/>
              </a:ext>
            </a:extLst>
          </p:cNvPr>
          <p:cNvSpPr/>
          <p:nvPr/>
        </p:nvSpPr>
        <p:spPr>
          <a:xfrm>
            <a:off x="3225800" y="1727200"/>
            <a:ext cx="609600" cy="609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4B11BE7-165B-DA7F-2CB6-98BE76F7967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816" y="1855216"/>
            <a:ext cx="353568" cy="35356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4E0093A-8154-6447-70A6-5FDD892B4FB9}"/>
              </a:ext>
            </a:extLst>
          </p:cNvPr>
          <p:cNvSpPr txBox="1"/>
          <p:nvPr/>
        </p:nvSpPr>
        <p:spPr>
          <a:xfrm>
            <a:off x="736600" y="1854199"/>
            <a:ext cx="2362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0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مشاهده‌ی قبض انبار</a:t>
            </a:r>
            <a:endParaRPr lang="en-US" sz="20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1A13C5-D623-7E8B-18D2-2EAD02F9DCFC}"/>
              </a:ext>
            </a:extLst>
          </p:cNvPr>
          <p:cNvSpPr txBox="1"/>
          <p:nvPr/>
        </p:nvSpPr>
        <p:spPr>
          <a:xfrm>
            <a:off x="736600" y="2514599"/>
            <a:ext cx="3098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اطلاعات دریافتی از سامانه‌ی قبض انبار شرکت</a:t>
            </a:r>
            <a:endParaRPr lang="en-US" sz="16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BC4D71E-9911-5A28-B932-A27AFAA7491F}"/>
              </a:ext>
            </a:extLst>
          </p:cNvPr>
          <p:cNvSpPr/>
          <p:nvPr/>
        </p:nvSpPr>
        <p:spPr>
          <a:xfrm>
            <a:off x="8128000" y="3784600"/>
            <a:ext cx="3556000" cy="2082800"/>
          </a:xfrm>
          <a:prstGeom prst="roundRect">
            <a:avLst>
              <a:gd name="adj" fmla="val 9756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56AE81-6161-D4C7-E0EB-4F214A547526}"/>
              </a:ext>
            </a:extLst>
          </p:cNvPr>
          <p:cNvSpPr/>
          <p:nvPr/>
        </p:nvSpPr>
        <p:spPr>
          <a:xfrm>
            <a:off x="10845800" y="4013200"/>
            <a:ext cx="609600" cy="609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7EEADCD-A3A2-B36E-BF9D-85AAB6075AC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816" y="4141216"/>
            <a:ext cx="353568" cy="35356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D72BAC2-B37C-4A54-7CDA-483635C4C992}"/>
              </a:ext>
            </a:extLst>
          </p:cNvPr>
          <p:cNvSpPr txBox="1"/>
          <p:nvPr/>
        </p:nvSpPr>
        <p:spPr>
          <a:xfrm>
            <a:off x="8356600" y="4140199"/>
            <a:ext cx="2362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0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نتیجه‌ی استعلام‌ها</a:t>
            </a:r>
            <a:endParaRPr lang="en-US" sz="20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472726-20E3-96C2-CDF7-26E0BBF04A04}"/>
              </a:ext>
            </a:extLst>
          </p:cNvPr>
          <p:cNvSpPr txBox="1"/>
          <p:nvPr/>
        </p:nvSpPr>
        <p:spPr>
          <a:xfrm>
            <a:off x="8356600" y="4800599"/>
            <a:ext cx="3098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هویت، اصالت، ارتباط با سند و وکالت در یک نگاه</a:t>
            </a:r>
            <a:endParaRPr lang="en-US" sz="16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5F734F3-BD97-C114-ABD8-61CBA00FA857}"/>
              </a:ext>
            </a:extLst>
          </p:cNvPr>
          <p:cNvSpPr/>
          <p:nvPr/>
        </p:nvSpPr>
        <p:spPr>
          <a:xfrm>
            <a:off x="4318000" y="3784600"/>
            <a:ext cx="3556000" cy="2082800"/>
          </a:xfrm>
          <a:prstGeom prst="roundRect">
            <a:avLst>
              <a:gd name="adj" fmla="val 9756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FC108F9-E022-BC02-EC3E-71F8E42A7796}"/>
              </a:ext>
            </a:extLst>
          </p:cNvPr>
          <p:cNvSpPr/>
          <p:nvPr/>
        </p:nvSpPr>
        <p:spPr>
          <a:xfrm>
            <a:off x="7035800" y="4013200"/>
            <a:ext cx="609600" cy="609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D69DC9B-968E-2E3A-5CD1-7EE9B725E10B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816" y="4141216"/>
            <a:ext cx="353568" cy="35356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9434B04-B2CC-CFA3-F9FF-BD761F33E46B}"/>
              </a:ext>
            </a:extLst>
          </p:cNvPr>
          <p:cNvSpPr txBox="1"/>
          <p:nvPr/>
        </p:nvSpPr>
        <p:spPr>
          <a:xfrm>
            <a:off x="4546600" y="4140199"/>
            <a:ext cx="2362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0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جستجو و فیلتر</a:t>
            </a:r>
            <a:endParaRPr lang="en-US" sz="20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957781-AA2D-EE57-742C-4C62BBBF2219}"/>
              </a:ext>
            </a:extLst>
          </p:cNvPr>
          <p:cNvSpPr txBox="1"/>
          <p:nvPr/>
        </p:nvSpPr>
        <p:spPr>
          <a:xfrm>
            <a:off x="4546600" y="4800599"/>
            <a:ext cx="3098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کد پیگیری، کد ملی، موبایل، شناسه سند، تاریخ و وضعیت</a:t>
            </a:r>
            <a:endParaRPr lang="en-US" sz="16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36D4F6B-8E03-C238-EF11-85F1C8504DBB}"/>
              </a:ext>
            </a:extLst>
          </p:cNvPr>
          <p:cNvSpPr/>
          <p:nvPr/>
        </p:nvSpPr>
        <p:spPr>
          <a:xfrm>
            <a:off x="508000" y="3784600"/>
            <a:ext cx="3556000" cy="2082800"/>
          </a:xfrm>
          <a:prstGeom prst="roundRect">
            <a:avLst>
              <a:gd name="adj" fmla="val 9756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B21442D-3B49-7A28-CE62-E1480F735FA9}"/>
              </a:ext>
            </a:extLst>
          </p:cNvPr>
          <p:cNvSpPr/>
          <p:nvPr/>
        </p:nvSpPr>
        <p:spPr>
          <a:xfrm>
            <a:off x="3225800" y="4013200"/>
            <a:ext cx="609600" cy="609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FD1CF9F-A526-3227-404A-A3A45EE13E37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816" y="4141216"/>
            <a:ext cx="353568" cy="35356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1BD109E-9F0E-B7B9-DA92-440E3638D347}"/>
              </a:ext>
            </a:extLst>
          </p:cNvPr>
          <p:cNvSpPr txBox="1"/>
          <p:nvPr/>
        </p:nvSpPr>
        <p:spPr>
          <a:xfrm>
            <a:off x="736600" y="4140199"/>
            <a:ext cx="2362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0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تاریخچه</a:t>
            </a:r>
            <a:endParaRPr lang="en-US" sz="20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FD8F5D-CB2E-C35E-DFCC-1C8D23A94E41}"/>
              </a:ext>
            </a:extLst>
          </p:cNvPr>
          <p:cNvSpPr txBox="1"/>
          <p:nvPr/>
        </p:nvSpPr>
        <p:spPr>
          <a:xfrm>
            <a:off x="736600" y="4800599"/>
            <a:ext cx="3098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همه‌ی اقدامات هر درخواست با زمان و نام کارشناس</a:t>
            </a:r>
            <a:endParaRPr lang="en-US" sz="16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8B7EBE-BB3C-D5D2-5355-D33426F3095A}"/>
              </a:ext>
            </a:extLst>
          </p:cNvPr>
          <p:cNvSpPr txBox="1"/>
          <p:nvPr/>
        </p:nvSpPr>
        <p:spPr>
          <a:xfrm>
            <a:off x="5588000" y="6426200"/>
            <a:ext cx="609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سامانه احراز اصالت سند و قبض انبار · بنادر و دریانوردی هرمزگان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DFB5DF-8B2B-8411-7E6F-C1F4957543A7}"/>
              </a:ext>
            </a:extLst>
          </p:cNvPr>
          <p:cNvSpPr txBox="1"/>
          <p:nvPr/>
        </p:nvSpPr>
        <p:spPr>
          <a:xfrm>
            <a:off x="508000" y="6426200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۷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220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B277A6-1DE6-5F01-44DA-997D83A31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13" y="1271311"/>
            <a:ext cx="10196052" cy="52679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8A50C8-7447-BBF2-F130-EF2AD277BB1E}"/>
              </a:ext>
            </a:extLst>
          </p:cNvPr>
          <p:cNvSpPr txBox="1"/>
          <p:nvPr/>
        </p:nvSpPr>
        <p:spPr>
          <a:xfrm>
            <a:off x="2540000" y="279400"/>
            <a:ext cx="9144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fa-IR" sz="3400" b="1" dirty="0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استعلام اصالت سند در لحظه و مشاهده متن سند</a:t>
            </a:r>
            <a:endParaRPr lang="en-US" sz="3400" b="1" dirty="0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D71E5E-8E40-1429-90D7-20E8CD796677}"/>
              </a:ext>
            </a:extLst>
          </p:cNvPr>
          <p:cNvSpPr/>
          <p:nvPr/>
        </p:nvSpPr>
        <p:spPr>
          <a:xfrm>
            <a:off x="508000" y="4064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4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قبض انبار</a:t>
            </a:r>
            <a:endParaRPr lang="en-US" sz="14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60182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071757-998E-0CE9-1C40-D4111761D897}"/>
              </a:ext>
            </a:extLst>
          </p:cNvPr>
          <p:cNvSpPr txBox="1"/>
          <p:nvPr/>
        </p:nvSpPr>
        <p:spPr>
          <a:xfrm>
            <a:off x="2540000" y="279400"/>
            <a:ext cx="9144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3400" b="1" dirty="0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 رد خودکار با پیامک</a:t>
            </a:r>
            <a:endParaRPr lang="en-US" sz="3400" b="1" dirty="0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E6A592-37A8-B51B-292F-1C5E51E2A289}"/>
              </a:ext>
            </a:extLst>
          </p:cNvPr>
          <p:cNvSpPr txBox="1"/>
          <p:nvPr/>
        </p:nvSpPr>
        <p:spPr>
          <a:xfrm>
            <a:off x="508000" y="965199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اگر یکی از استعلام‌ها رد شود، متقاضی همان لحظه با پیامک از نتیجه و دلیل آن باخبر می‌شود</a:t>
            </a:r>
            <a:endParaRPr lang="en-US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D54218-7DEF-6B2B-330F-A066C3D929C5}"/>
              </a:ext>
            </a:extLst>
          </p:cNvPr>
          <p:cNvSpPr/>
          <p:nvPr/>
        </p:nvSpPr>
        <p:spPr>
          <a:xfrm>
            <a:off x="508000" y="4064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4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قبض انبار</a:t>
            </a:r>
            <a:endParaRPr lang="en-US" sz="14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0B39F4-3568-504F-DDD1-0D85FE01D7AA}"/>
              </a:ext>
            </a:extLst>
          </p:cNvPr>
          <p:cNvSpPr/>
          <p:nvPr/>
        </p:nvSpPr>
        <p:spPr>
          <a:xfrm>
            <a:off x="487680" y="2308860"/>
            <a:ext cx="38100" cy="221615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1BC2CB-67E7-7C02-571E-7B7516970655}"/>
              </a:ext>
            </a:extLst>
          </p:cNvPr>
          <p:cNvSpPr/>
          <p:nvPr/>
        </p:nvSpPr>
        <p:spPr>
          <a:xfrm>
            <a:off x="487680" y="2663444"/>
            <a:ext cx="38100" cy="398907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D6043D-445D-80D3-9961-6BCE35690D6D}"/>
              </a:ext>
            </a:extLst>
          </p:cNvPr>
          <p:cNvSpPr/>
          <p:nvPr/>
        </p:nvSpPr>
        <p:spPr>
          <a:xfrm>
            <a:off x="487680" y="3150997"/>
            <a:ext cx="38100" cy="398907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05CA79-78FA-22E9-339B-E26BAF085D9F}"/>
              </a:ext>
            </a:extLst>
          </p:cNvPr>
          <p:cNvSpPr/>
          <p:nvPr/>
        </p:nvSpPr>
        <p:spPr>
          <a:xfrm>
            <a:off x="2623820" y="2752090"/>
            <a:ext cx="38100" cy="576199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47BFE0-D250-E252-1C8B-2E5D26B86FCA}"/>
              </a:ext>
            </a:extLst>
          </p:cNvPr>
          <p:cNvSpPr/>
          <p:nvPr/>
        </p:nvSpPr>
        <p:spPr>
          <a:xfrm>
            <a:off x="508000" y="1422400"/>
            <a:ext cx="2133600" cy="4432300"/>
          </a:xfrm>
          <a:prstGeom prst="roundRect">
            <a:avLst>
              <a:gd name="adj" fmla="val 165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>
            <a:outerShdw blurRad="203200" dist="88900" dir="5400000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1A3BA03-860E-4470-E466-09362844B172}"/>
              </a:ext>
            </a:extLst>
          </p:cNvPr>
          <p:cNvSpPr/>
          <p:nvPr/>
        </p:nvSpPr>
        <p:spPr>
          <a:xfrm>
            <a:off x="535940" y="1450340"/>
            <a:ext cx="2077720" cy="4376420"/>
          </a:xfrm>
          <a:prstGeom prst="roundRect">
            <a:avLst>
              <a:gd name="adj" fmla="val 15917"/>
            </a:avLst>
          </a:prstGeom>
          <a:solidFill>
            <a:srgbClr val="0A0A0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ED929F-95B6-B7A4-3A0B-E0128BADD43D}"/>
              </a:ext>
            </a:extLst>
          </p:cNvPr>
          <p:cNvSpPr/>
          <p:nvPr/>
        </p:nvSpPr>
        <p:spPr>
          <a:xfrm>
            <a:off x="579120" y="1493520"/>
            <a:ext cx="1991360" cy="4290060"/>
          </a:xfrm>
          <a:prstGeom prst="roundRect">
            <a:avLst>
              <a:gd name="adj" fmla="val 15536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CB49B5-7E8C-1CC3-E803-00B7270B4EE7}"/>
              </a:ext>
            </a:extLst>
          </p:cNvPr>
          <p:cNvSpPr/>
          <p:nvPr/>
        </p:nvSpPr>
        <p:spPr>
          <a:xfrm>
            <a:off x="1246226" y="1562161"/>
            <a:ext cx="657148" cy="189179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82D68E-3EE7-89BB-1DC9-96975FA2BF66}"/>
              </a:ext>
            </a:extLst>
          </p:cNvPr>
          <p:cNvSpPr txBox="1"/>
          <p:nvPr/>
        </p:nvSpPr>
        <p:spPr>
          <a:xfrm>
            <a:off x="758342" y="1646674"/>
            <a:ext cx="438099" cy="18917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784" b="1">
                <a:solidFill>
                  <a:srgbClr val="000000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11:56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9E6B7CF-241F-8025-C0B8-3D8CB401B3C1}"/>
              </a:ext>
            </a:extLst>
          </p:cNvPr>
          <p:cNvSpPr/>
          <p:nvPr/>
        </p:nvSpPr>
        <p:spPr>
          <a:xfrm>
            <a:off x="1973072" y="1651075"/>
            <a:ext cx="21590" cy="4729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3DB2844-E5E5-D277-1C63-86ECC967D911}"/>
              </a:ext>
            </a:extLst>
          </p:cNvPr>
          <p:cNvSpPr/>
          <p:nvPr/>
        </p:nvSpPr>
        <p:spPr>
          <a:xfrm>
            <a:off x="2006092" y="1626482"/>
            <a:ext cx="21590" cy="71888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6C04607-34F8-C129-D1D2-957DF31B4978}"/>
              </a:ext>
            </a:extLst>
          </p:cNvPr>
          <p:cNvSpPr/>
          <p:nvPr/>
        </p:nvSpPr>
        <p:spPr>
          <a:xfrm>
            <a:off x="2039112" y="1601889"/>
            <a:ext cx="21590" cy="96481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BA394AD-5FC6-4421-3CD3-035310393FB1}"/>
              </a:ext>
            </a:extLst>
          </p:cNvPr>
          <p:cNvSpPr/>
          <p:nvPr/>
        </p:nvSpPr>
        <p:spPr>
          <a:xfrm>
            <a:off x="2072132" y="1577295"/>
            <a:ext cx="21590" cy="12107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FFF2F1C-41DC-D8A5-1049-A6864252BF6B}"/>
              </a:ext>
            </a:extLst>
          </p:cNvPr>
          <p:cNvSpPr/>
          <p:nvPr/>
        </p:nvSpPr>
        <p:spPr>
          <a:xfrm>
            <a:off x="2172208" y="1615131"/>
            <a:ext cx="169266" cy="88914"/>
          </a:xfrm>
          <a:prstGeom prst="roundRect">
            <a:avLst>
              <a:gd name="adj" fmla="val 3142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502" b="1">
                <a:solidFill>
                  <a:srgbClr val="FFFFFF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89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23411E2-2656-BE5F-007C-9E00F2DC511E}"/>
              </a:ext>
            </a:extLst>
          </p:cNvPr>
          <p:cNvSpPr/>
          <p:nvPr/>
        </p:nvSpPr>
        <p:spPr>
          <a:xfrm>
            <a:off x="2346554" y="1641616"/>
            <a:ext cx="13970" cy="37836"/>
          </a:xfrm>
          <a:prstGeom prst="roundRect">
            <a:avLst>
              <a:gd name="adj" fmla="val 45455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F09486D-C8DA-D999-9862-FDA2F519D0B4}"/>
              </a:ext>
            </a:extLst>
          </p:cNvPr>
          <p:cNvSpPr/>
          <p:nvPr/>
        </p:nvSpPr>
        <p:spPr>
          <a:xfrm>
            <a:off x="1425448" y="1854302"/>
            <a:ext cx="298704" cy="298704"/>
          </a:xfrm>
          <a:prstGeom prst="ellipse">
            <a:avLst/>
          </a:prstGeom>
          <a:solidFill>
            <a:srgbClr val="A4AAB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3ED9D53-53B2-BE29-D683-6C5BDAC5957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189" y="1908068"/>
            <a:ext cx="179222" cy="179222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56E4025-84D2-F079-1123-834830E923F7}"/>
              </a:ext>
            </a:extLst>
          </p:cNvPr>
          <p:cNvSpPr/>
          <p:nvPr/>
        </p:nvSpPr>
        <p:spPr>
          <a:xfrm>
            <a:off x="1076960" y="2184756"/>
            <a:ext cx="995680" cy="149352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27" b="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0983 000 2892  ›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F284D32-309B-C613-36F5-A03EB24A9562}"/>
              </a:ext>
            </a:extLst>
          </p:cNvPr>
          <p:cNvSpPr/>
          <p:nvPr/>
        </p:nvSpPr>
        <p:spPr>
          <a:xfrm>
            <a:off x="678688" y="1879702"/>
            <a:ext cx="278790" cy="278790"/>
          </a:xfrm>
          <a:prstGeom prst="ellipse">
            <a:avLst/>
          </a:prstGeom>
          <a:solidFill>
            <a:srgbClr val="F2F2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568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‹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77C0AA7-2A4C-FBB3-3A19-4A268C241511}"/>
              </a:ext>
            </a:extLst>
          </p:cNvPr>
          <p:cNvSpPr/>
          <p:nvPr/>
        </p:nvSpPr>
        <p:spPr>
          <a:xfrm>
            <a:off x="1216355" y="5689199"/>
            <a:ext cx="716890" cy="330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BDE4080-25EE-95F0-4A46-7A1862641778}"/>
              </a:ext>
            </a:extLst>
          </p:cNvPr>
          <p:cNvSpPr/>
          <p:nvPr/>
        </p:nvSpPr>
        <p:spPr>
          <a:xfrm>
            <a:off x="658774" y="5287053"/>
            <a:ext cx="209093" cy="209093"/>
          </a:xfrm>
          <a:prstGeom prst="ellipse">
            <a:avLst/>
          </a:prstGeom>
          <a:solidFill>
            <a:srgbClr val="F2F2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76">
                <a:solidFill>
                  <a:srgbClr val="3C3C4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+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FD6B673-F005-349E-85D8-253AB11B67B7}"/>
              </a:ext>
            </a:extLst>
          </p:cNvPr>
          <p:cNvSpPr/>
          <p:nvPr/>
        </p:nvSpPr>
        <p:spPr>
          <a:xfrm>
            <a:off x="918667" y="5287053"/>
            <a:ext cx="1572158" cy="2090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 cap="flat" cmpd="sng" algn="ctr">
            <a:solidFill>
              <a:srgbClr val="D1D1D6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0" rIns="0" bIns="0" rtlCol="0" anchor="ctr"/>
          <a:lstStyle/>
          <a:p>
            <a:r>
              <a:rPr lang="en-US" sz="659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Text Message • SMS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3A52FB-3E9B-27D5-257D-BB808AD90BEE}"/>
              </a:ext>
            </a:extLst>
          </p:cNvPr>
          <p:cNvSpPr txBox="1"/>
          <p:nvPr/>
        </p:nvSpPr>
        <p:spPr>
          <a:xfrm>
            <a:off x="579120" y="3246925"/>
            <a:ext cx="1991360" cy="17363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564" b="1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Text Message</a:t>
            </a:r>
          </a:p>
          <a:p>
            <a:pPr algn="ctr"/>
            <a:r>
              <a:rPr lang="en-US" sz="564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Wednesday 9:19 AM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BA95BD6-591C-9168-7308-EDBAC58C5E2A}"/>
              </a:ext>
            </a:extLst>
          </p:cNvPr>
          <p:cNvSpPr/>
          <p:nvPr/>
        </p:nvSpPr>
        <p:spPr>
          <a:xfrm>
            <a:off x="668731" y="3465012"/>
            <a:ext cx="1672743" cy="722539"/>
          </a:xfrm>
          <a:prstGeom prst="roundRect">
            <a:avLst>
              <a:gd name="adj" fmla="val 15819"/>
            </a:avLst>
          </a:prstGeom>
          <a:solidFill>
            <a:srgbClr val="E9E9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t">
            <a:spAutoFit/>
          </a:bodyPr>
          <a:lstStyle/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کد تایید شما: </a:t>
            </a:r>
            <a:r>
              <a:rPr lang="ar-SA" sz="753" u="sng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798638</a:t>
            </a:r>
          </a:p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سامانه احراز اصالت سند و قبض انبار</a:t>
            </a:r>
          </a:p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اداره کل بنادر و دریانوردی استان هرمزگان</a:t>
            </a:r>
          </a:p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1405/07/29 09:19:15 ق.ظ</a:t>
            </a:r>
            <a:endParaRPr lang="en-US" sz="753">
              <a:solidFill>
                <a:srgbClr val="1C1C1E"/>
              </a:solidFill>
              <a:latin typeface="Segoe UI" panose="020B0502040204020203" pitchFamily="34" charset="0"/>
              <a:cs typeface="Tahoma" panose="020B060403050404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78DBD62-F9CE-30F4-6C36-B1D526FED6E7}"/>
              </a:ext>
            </a:extLst>
          </p:cNvPr>
          <p:cNvSpPr/>
          <p:nvPr/>
        </p:nvSpPr>
        <p:spPr>
          <a:xfrm>
            <a:off x="668731" y="4232001"/>
            <a:ext cx="1672743" cy="966152"/>
          </a:xfrm>
          <a:prstGeom prst="roundRect">
            <a:avLst>
              <a:gd name="adj" fmla="val 11830"/>
            </a:avLst>
          </a:prstGeom>
          <a:solidFill>
            <a:srgbClr val="E9E9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t">
            <a:spAutoFit/>
          </a:bodyPr>
          <a:lstStyle/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کاربر گرامی، درخواست شما با کد پیگیری </a:t>
            </a:r>
            <a:r>
              <a:rPr lang="en-US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REQ00020264 </a:t>
            </a: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رد شد. دلیل: عدم ارتباط متقاضی با سند (به عنوان وکیل)</a:t>
            </a:r>
          </a:p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اداره کل بنادر و دریانوردی استان هرمزگان</a:t>
            </a:r>
          </a:p>
          <a:p>
            <a:pPr algn="r" rtl="1">
              <a:lnSpc>
                <a:spcPct val="95000"/>
              </a:lnSpc>
            </a:pPr>
            <a:r>
              <a:rPr lang="ar-SA" sz="753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1405/07/29 09:21:32 ق.ظ</a:t>
            </a:r>
            <a:endParaRPr lang="en-US" sz="753">
              <a:solidFill>
                <a:srgbClr val="1C1C1E"/>
              </a:solidFill>
              <a:latin typeface="Segoe UI" panose="020B0502040204020203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516CFB-4E5C-F94C-0568-606F9B5C895B}"/>
              </a:ext>
            </a:extLst>
          </p:cNvPr>
          <p:cNvSpPr txBox="1"/>
          <p:nvPr/>
        </p:nvSpPr>
        <p:spPr>
          <a:xfrm>
            <a:off x="381000" y="5918199"/>
            <a:ext cx="2387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sz="13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پیامک واقعی سامانه</a:t>
            </a:r>
            <a:endParaRPr lang="en-US" sz="13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D9867A-8158-939B-1108-06F15650F938}"/>
              </a:ext>
            </a:extLst>
          </p:cNvPr>
          <p:cNvSpPr txBox="1"/>
          <p:nvPr/>
        </p:nvSpPr>
        <p:spPr>
          <a:xfrm>
            <a:off x="7620000" y="1473199"/>
            <a:ext cx="4064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0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نمونه‌ی واقعی</a:t>
            </a:r>
            <a:endParaRPr lang="en-US" sz="20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63CE993-812E-B006-16B3-48B2DA8D67F9}"/>
              </a:ext>
            </a:extLst>
          </p:cNvPr>
          <p:cNvSpPr/>
          <p:nvPr/>
        </p:nvSpPr>
        <p:spPr>
          <a:xfrm>
            <a:off x="11290300" y="2108200"/>
            <a:ext cx="25400" cy="2489200"/>
          </a:xfrm>
          <a:prstGeom prst="rect">
            <a:avLst/>
          </a:prstGeom>
          <a:solidFill>
            <a:srgbClr val="C9DB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7D75DAD-A752-CF21-E119-2D1872AEE46D}"/>
              </a:ext>
            </a:extLst>
          </p:cNvPr>
          <p:cNvSpPr/>
          <p:nvPr/>
        </p:nvSpPr>
        <p:spPr>
          <a:xfrm>
            <a:off x="10947400" y="2006600"/>
            <a:ext cx="711200" cy="304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300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۰۹:۱۹</a:t>
            </a:r>
            <a:endParaRPr lang="en-US" sz="1300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32FA4C-4F3E-D037-4013-38207DB1A371}"/>
              </a:ext>
            </a:extLst>
          </p:cNvPr>
          <p:cNvSpPr txBox="1"/>
          <p:nvPr/>
        </p:nvSpPr>
        <p:spPr>
          <a:xfrm>
            <a:off x="7620000" y="1981199"/>
            <a:ext cx="314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کد تایید برای موبایل متقاضی ارسال شد</a:t>
            </a:r>
            <a:endParaRPr lang="en-US" sz="16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1CDD293-A349-1608-DE24-A0D7BFE81D47}"/>
              </a:ext>
            </a:extLst>
          </p:cNvPr>
          <p:cNvSpPr/>
          <p:nvPr/>
        </p:nvSpPr>
        <p:spPr>
          <a:xfrm>
            <a:off x="10947400" y="2971800"/>
            <a:ext cx="711200" cy="304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300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۰۹:۲۱</a:t>
            </a:r>
            <a:endParaRPr lang="en-US" sz="1300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5CA931-D01B-B4FC-43E8-E2D17D9B0107}"/>
              </a:ext>
            </a:extLst>
          </p:cNvPr>
          <p:cNvSpPr txBox="1"/>
          <p:nvPr/>
        </p:nvSpPr>
        <p:spPr>
          <a:xfrm>
            <a:off x="7620000" y="2946399"/>
            <a:ext cx="314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درخواست ثبت و استعلام‌ها اجرا شد؛ کد پیگیری </a:t>
            </a:r>
            <a:r>
              <a:rPr lang="en-US" sz="16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REQ00020264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2CA5DB5-E1BC-F1EA-7D16-46CD89331DB4}"/>
              </a:ext>
            </a:extLst>
          </p:cNvPr>
          <p:cNvSpPr/>
          <p:nvPr/>
        </p:nvSpPr>
        <p:spPr>
          <a:xfrm>
            <a:off x="10947400" y="3937000"/>
            <a:ext cx="711200" cy="304800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3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۰۹:۲۱</a:t>
            </a:r>
            <a:endParaRPr lang="en-US" sz="13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D9C27F-6236-9551-955D-12D56734C784}"/>
              </a:ext>
            </a:extLst>
          </p:cNvPr>
          <p:cNvSpPr txBox="1"/>
          <p:nvPr/>
        </p:nvSpPr>
        <p:spPr>
          <a:xfrm>
            <a:off x="7620000" y="3911599"/>
            <a:ext cx="314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1E2A3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ارتباط متقاضی (به عنوان وکیل) با سند تایید نشد؛ پیامک رد ارسال شد</a:t>
            </a:r>
            <a:endParaRPr lang="en-US" sz="1600">
              <a:solidFill>
                <a:srgbClr val="1E2A3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2AD9156-6085-17EF-27F5-0540A1A3D36A}"/>
              </a:ext>
            </a:extLst>
          </p:cNvPr>
          <p:cNvSpPr/>
          <p:nvPr/>
        </p:nvSpPr>
        <p:spPr>
          <a:xfrm>
            <a:off x="7620000" y="5029200"/>
            <a:ext cx="4064000" cy="914400"/>
          </a:xfrm>
          <a:prstGeom prst="roundRect">
            <a:avLst>
              <a:gd name="adj" fmla="val 19444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3476F6-BB9D-F8C1-B3B2-F37B7D6033C4}"/>
              </a:ext>
            </a:extLst>
          </p:cNvPr>
          <p:cNvSpPr txBox="1"/>
          <p:nvPr/>
        </p:nvSpPr>
        <p:spPr>
          <a:xfrm>
            <a:off x="9906000" y="5038466"/>
            <a:ext cx="16256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 rtl="1"/>
            <a:r>
              <a:rPr lang="ar-SA" sz="3000" b="1">
                <a:solidFill>
                  <a:srgbClr val="2563A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۲ دقیقه</a:t>
            </a:r>
            <a:endParaRPr lang="en-US" sz="3000" b="1">
              <a:solidFill>
                <a:srgbClr val="2563A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9133F9-210F-EB94-0012-56C71A04D46C}"/>
              </a:ext>
            </a:extLst>
          </p:cNvPr>
          <p:cNvSpPr txBox="1"/>
          <p:nvPr/>
        </p:nvSpPr>
        <p:spPr>
          <a:xfrm>
            <a:off x="7772400" y="5181599"/>
            <a:ext cx="21082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4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از کد تایید تا پیامک نتیجه؛</a:t>
            </a:r>
          </a:p>
          <a:p>
            <a:pPr algn="r" rtl="1"/>
            <a:r>
              <a:rPr lang="ar-SA" sz="14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بدون دخالت کارشناس</a:t>
            </a:r>
            <a:endParaRPr lang="en-US" sz="14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C8B201C-D9B0-4BD0-2259-29A7088F0B2C}"/>
              </a:ext>
            </a:extLst>
          </p:cNvPr>
          <p:cNvSpPr/>
          <p:nvPr/>
        </p:nvSpPr>
        <p:spPr>
          <a:xfrm>
            <a:off x="3048000" y="1498600"/>
            <a:ext cx="4191000" cy="4445000"/>
          </a:xfrm>
          <a:prstGeom prst="roundRect">
            <a:avLst>
              <a:gd name="adj" fmla="val 4848"/>
            </a:avLst>
          </a:prstGeom>
          <a:solidFill>
            <a:srgbClr val="13294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D73C4D7-1B67-67DA-0E5E-B4ED6B1668BA}"/>
              </a:ext>
            </a:extLst>
          </p:cNvPr>
          <p:cNvSpPr/>
          <p:nvPr/>
        </p:nvSpPr>
        <p:spPr>
          <a:xfrm>
            <a:off x="6426200" y="1701800"/>
            <a:ext cx="558800" cy="5588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3EC8A15-8479-6E35-C47F-A92BD849A94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548" y="1819148"/>
            <a:ext cx="324104" cy="32410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490FC53-3B80-F382-586A-402253711F99}"/>
              </a:ext>
            </a:extLst>
          </p:cNvPr>
          <p:cNvSpPr txBox="1"/>
          <p:nvPr/>
        </p:nvSpPr>
        <p:spPr>
          <a:xfrm>
            <a:off x="3302000" y="1803399"/>
            <a:ext cx="2997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100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دلایل رد سیستمی</a:t>
            </a:r>
            <a:endParaRPr lang="en-US" sz="2100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AF11C1A-CA9E-FE07-6D6D-02C0EA75A1E0}"/>
              </a:ext>
            </a:extLst>
          </p:cNvPr>
          <p:cNvSpPr/>
          <p:nvPr/>
        </p:nvSpPr>
        <p:spPr>
          <a:xfrm>
            <a:off x="6832600" y="2590800"/>
            <a:ext cx="101600" cy="101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C1BE75-21A8-0D0B-4D27-B70771068F09}"/>
              </a:ext>
            </a:extLst>
          </p:cNvPr>
          <p:cNvSpPr txBox="1"/>
          <p:nvPr/>
        </p:nvSpPr>
        <p:spPr>
          <a:xfrm>
            <a:off x="3302000" y="2489199"/>
            <a:ext cx="3403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عدم تطابق کد ملی و شماره همراه</a:t>
            </a:r>
            <a:endParaRPr lang="en-US" sz="1600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8C8044F-7789-C30E-A4BA-7F4F8FB42BDB}"/>
              </a:ext>
            </a:extLst>
          </p:cNvPr>
          <p:cNvSpPr/>
          <p:nvPr/>
        </p:nvSpPr>
        <p:spPr>
          <a:xfrm>
            <a:off x="6832600" y="3175000"/>
            <a:ext cx="101600" cy="101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A0B3D1-1B5F-746C-BCE2-F3484F9FD1EB}"/>
              </a:ext>
            </a:extLst>
          </p:cNvPr>
          <p:cNvSpPr txBox="1"/>
          <p:nvPr/>
        </p:nvSpPr>
        <p:spPr>
          <a:xfrm>
            <a:off x="3302000" y="3073399"/>
            <a:ext cx="3403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عدم وجود سند با این شناسه و رمز تصدیق</a:t>
            </a:r>
            <a:endParaRPr lang="en-US" sz="1600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88346BB-E590-18A5-B0EA-D6DC75735308}"/>
              </a:ext>
            </a:extLst>
          </p:cNvPr>
          <p:cNvSpPr/>
          <p:nvPr/>
        </p:nvSpPr>
        <p:spPr>
          <a:xfrm>
            <a:off x="6832600" y="3759200"/>
            <a:ext cx="101600" cy="101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FA9598-1317-B91C-E727-335F37194288}"/>
              </a:ext>
            </a:extLst>
          </p:cNvPr>
          <p:cNvSpPr txBox="1"/>
          <p:nvPr/>
        </p:nvSpPr>
        <p:spPr>
          <a:xfrm>
            <a:off x="3302000" y="3657599"/>
            <a:ext cx="3403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عدم ارتباط متقاضی با سند (مالک یا وکیل)</a:t>
            </a:r>
            <a:endParaRPr lang="en-US" sz="1600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3DDB40F-8CD9-1BB8-8819-F6630E0F30AA}"/>
              </a:ext>
            </a:extLst>
          </p:cNvPr>
          <p:cNvSpPr/>
          <p:nvPr/>
        </p:nvSpPr>
        <p:spPr>
          <a:xfrm>
            <a:off x="6832600" y="4343400"/>
            <a:ext cx="101600" cy="101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DFF59B-77A3-9935-CC51-8908376997BC}"/>
              </a:ext>
            </a:extLst>
          </p:cNvPr>
          <p:cNvSpPr txBox="1"/>
          <p:nvPr/>
        </p:nvSpPr>
        <p:spPr>
          <a:xfrm>
            <a:off x="3302000" y="4241799"/>
            <a:ext cx="3403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عدم اعتبار وکالت‌نامه (منقضی شده)</a:t>
            </a:r>
            <a:endParaRPr lang="en-US" sz="1600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5AD276C-0C2F-FDBF-B62A-4F2EE4A5A96C}"/>
              </a:ext>
            </a:extLst>
          </p:cNvPr>
          <p:cNvSpPr/>
          <p:nvPr/>
        </p:nvSpPr>
        <p:spPr>
          <a:xfrm>
            <a:off x="6832600" y="4927600"/>
            <a:ext cx="101600" cy="101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8771F1-016F-7E71-7470-FB8E825931A8}"/>
              </a:ext>
            </a:extLst>
          </p:cNvPr>
          <p:cNvSpPr txBox="1"/>
          <p:nvPr/>
        </p:nvSpPr>
        <p:spPr>
          <a:xfrm>
            <a:off x="3302000" y="4825999"/>
            <a:ext cx="3403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قبض انبار با این شماره یافت نشد</a:t>
            </a:r>
            <a:endParaRPr lang="en-US" sz="1600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04A38B-806A-7F9B-49E0-59CD62F71716}"/>
              </a:ext>
            </a:extLst>
          </p:cNvPr>
          <p:cNvSpPr txBox="1"/>
          <p:nvPr/>
        </p:nvSpPr>
        <p:spPr>
          <a:xfrm>
            <a:off x="3302000" y="5384799"/>
            <a:ext cx="3632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4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دلیل دقیق در متن پیامک می‌آید تا متقاضی بداند چه چیزی را اصلاح کند</a:t>
            </a:r>
            <a:endParaRPr lang="en-US" sz="14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B186B1-F514-C341-C4CF-EE247817423D}"/>
              </a:ext>
            </a:extLst>
          </p:cNvPr>
          <p:cNvSpPr txBox="1"/>
          <p:nvPr/>
        </p:nvSpPr>
        <p:spPr>
          <a:xfrm>
            <a:off x="5588000" y="6426200"/>
            <a:ext cx="609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سامانه احراز اصالت سند و قبض انبار · بنادر و دریانوردی هرمزگان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13D384-40F6-6454-3147-667BCFF378DD}"/>
              </a:ext>
            </a:extLst>
          </p:cNvPr>
          <p:cNvSpPr txBox="1"/>
          <p:nvPr/>
        </p:nvSpPr>
        <p:spPr>
          <a:xfrm>
            <a:off x="508000" y="6426200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۶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29352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5B7972-A4F6-F7B9-453A-C1CC3CAF2703}"/>
              </a:ext>
            </a:extLst>
          </p:cNvPr>
          <p:cNvSpPr txBox="1"/>
          <p:nvPr/>
        </p:nvSpPr>
        <p:spPr>
          <a:xfrm>
            <a:off x="2540000" y="279400"/>
            <a:ext cx="9144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3400" b="1" dirty="0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ثبت درخواست نوبت ارزیابی </a:t>
            </a:r>
            <a:endParaRPr lang="en-US" sz="3400" b="1" dirty="0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D0311E-6B0C-339E-FD08-C679A5A2EFBD}"/>
              </a:ext>
            </a:extLst>
          </p:cNvPr>
          <p:cNvSpPr txBox="1"/>
          <p:nvPr/>
        </p:nvSpPr>
        <p:spPr>
          <a:xfrm>
            <a:off x="508000" y="965199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نمونه‌ی ثبت در پرتال؛ فقط دو مرحله تا دریافت کد پیگیری</a:t>
            </a:r>
            <a:endParaRPr lang="en-US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84C4CE-F5B8-1B82-BF0E-D04812823534}"/>
              </a:ext>
            </a:extLst>
          </p:cNvPr>
          <p:cNvSpPr/>
          <p:nvPr/>
        </p:nvSpPr>
        <p:spPr>
          <a:xfrm>
            <a:off x="508000" y="4064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4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نوبت ارزیابی</a:t>
            </a:r>
            <a:endParaRPr lang="en-US" sz="14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BC79512-E952-47E9-275C-FFED56E88CF1}"/>
              </a:ext>
            </a:extLst>
          </p:cNvPr>
          <p:cNvSpPr/>
          <p:nvPr/>
        </p:nvSpPr>
        <p:spPr>
          <a:xfrm>
            <a:off x="8933180" y="2113280"/>
            <a:ext cx="38100" cy="198120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B241C1-A533-C51B-F5F7-F12DDE6C792A}"/>
              </a:ext>
            </a:extLst>
          </p:cNvPr>
          <p:cNvSpPr/>
          <p:nvPr/>
        </p:nvSpPr>
        <p:spPr>
          <a:xfrm>
            <a:off x="8933180" y="2430272"/>
            <a:ext cx="38100" cy="356616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8E1369-1A2A-938F-9F4E-1693F9DCCE87}"/>
              </a:ext>
            </a:extLst>
          </p:cNvPr>
          <p:cNvSpPr/>
          <p:nvPr/>
        </p:nvSpPr>
        <p:spPr>
          <a:xfrm>
            <a:off x="8933180" y="2866136"/>
            <a:ext cx="38100" cy="356616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9382EE-39A6-40B8-8001-CBE01764899F}"/>
              </a:ext>
            </a:extLst>
          </p:cNvPr>
          <p:cNvSpPr/>
          <p:nvPr/>
        </p:nvSpPr>
        <p:spPr>
          <a:xfrm>
            <a:off x="10840720" y="2509520"/>
            <a:ext cx="38100" cy="515112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B6B307-AF7B-E134-2958-EE7A38AD465A}"/>
              </a:ext>
            </a:extLst>
          </p:cNvPr>
          <p:cNvSpPr/>
          <p:nvPr/>
        </p:nvSpPr>
        <p:spPr>
          <a:xfrm>
            <a:off x="8953500" y="1320800"/>
            <a:ext cx="1905000" cy="3962400"/>
          </a:xfrm>
          <a:prstGeom prst="roundRect">
            <a:avLst>
              <a:gd name="adj" fmla="val 165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>
            <a:outerShdw blurRad="203200" dist="88900" dir="5400000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CC1CBA-3F3F-E1DE-CFA9-C32DAB8AFA1B}"/>
              </a:ext>
            </a:extLst>
          </p:cNvPr>
          <p:cNvSpPr/>
          <p:nvPr/>
        </p:nvSpPr>
        <p:spPr>
          <a:xfrm>
            <a:off x="8981440" y="1348740"/>
            <a:ext cx="1849121" cy="3906520"/>
          </a:xfrm>
          <a:prstGeom prst="roundRect">
            <a:avLst>
              <a:gd name="adj" fmla="val 15968"/>
            </a:avLst>
          </a:prstGeom>
          <a:solidFill>
            <a:srgbClr val="0A0A0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F06D92-B11E-1FC4-D789-5816321FFDEF}"/>
              </a:ext>
            </a:extLst>
          </p:cNvPr>
          <p:cNvSpPr/>
          <p:nvPr/>
        </p:nvSpPr>
        <p:spPr>
          <a:xfrm>
            <a:off x="9024620" y="1391920"/>
            <a:ext cx="1762760" cy="3820160"/>
          </a:xfrm>
          <a:prstGeom prst="roundRect">
            <a:avLst>
              <a:gd name="adj" fmla="val 15670"/>
            </a:avLst>
          </a:prstGeom>
          <a:blipFill>
            <a:blip r:embed="rId3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8A1BF35-41E8-B4A6-1245-89AFF67E697D}"/>
              </a:ext>
            </a:extLst>
          </p:cNvPr>
          <p:cNvSpPr/>
          <p:nvPr/>
        </p:nvSpPr>
        <p:spPr>
          <a:xfrm>
            <a:off x="9615145" y="1453043"/>
            <a:ext cx="581711" cy="16746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A4FBAE-6D74-9A89-D3CC-4673B89D5D1E}"/>
              </a:ext>
            </a:extLst>
          </p:cNvPr>
          <p:cNvSpPr txBox="1"/>
          <p:nvPr/>
        </p:nvSpPr>
        <p:spPr>
          <a:xfrm>
            <a:off x="9183268" y="1544481"/>
            <a:ext cx="387807" cy="16746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694" b="1">
                <a:solidFill>
                  <a:srgbClr val="000000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11:47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8F2DFE9-E9A1-9EDD-EC9B-BC72E83A18DB}"/>
              </a:ext>
            </a:extLst>
          </p:cNvPr>
          <p:cNvSpPr/>
          <p:nvPr/>
        </p:nvSpPr>
        <p:spPr>
          <a:xfrm>
            <a:off x="10258552" y="1531750"/>
            <a:ext cx="21590" cy="4186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77938C6-50CC-6308-3177-3D09FEB826EE}"/>
              </a:ext>
            </a:extLst>
          </p:cNvPr>
          <p:cNvSpPr/>
          <p:nvPr/>
        </p:nvSpPr>
        <p:spPr>
          <a:xfrm>
            <a:off x="10291572" y="1509980"/>
            <a:ext cx="21590" cy="6363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3AD2BB-0667-EEC6-AFAB-A5D2DAA1B1B0}"/>
              </a:ext>
            </a:extLst>
          </p:cNvPr>
          <p:cNvSpPr/>
          <p:nvPr/>
        </p:nvSpPr>
        <p:spPr>
          <a:xfrm>
            <a:off x="10324592" y="1488210"/>
            <a:ext cx="21590" cy="8540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E6FC2F-7898-AE22-8F9D-4D2441C66D49}"/>
              </a:ext>
            </a:extLst>
          </p:cNvPr>
          <p:cNvSpPr/>
          <p:nvPr/>
        </p:nvSpPr>
        <p:spPr>
          <a:xfrm>
            <a:off x="10357612" y="1466440"/>
            <a:ext cx="21590" cy="10717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0F204F3-FDB0-5ABC-76E7-47D477E4FF24}"/>
              </a:ext>
            </a:extLst>
          </p:cNvPr>
          <p:cNvSpPr/>
          <p:nvPr/>
        </p:nvSpPr>
        <p:spPr>
          <a:xfrm>
            <a:off x="10434828" y="1499932"/>
            <a:ext cx="149834" cy="78707"/>
          </a:xfrm>
          <a:prstGeom prst="roundRect">
            <a:avLst>
              <a:gd name="adj" fmla="val 35499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444" b="1">
                <a:solidFill>
                  <a:srgbClr val="FFFFFF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89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7CC3741-3687-CA9F-78E9-8FBA31279BE4}"/>
              </a:ext>
            </a:extLst>
          </p:cNvPr>
          <p:cNvSpPr/>
          <p:nvPr/>
        </p:nvSpPr>
        <p:spPr>
          <a:xfrm>
            <a:off x="10589743" y="1523377"/>
            <a:ext cx="13969" cy="33492"/>
          </a:xfrm>
          <a:prstGeom prst="roundRect">
            <a:avLst>
              <a:gd name="adj" fmla="val 45455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17755B4-1E14-2397-8DC1-7FD30D167398}"/>
              </a:ext>
            </a:extLst>
          </p:cNvPr>
          <p:cNvSpPr/>
          <p:nvPr/>
        </p:nvSpPr>
        <p:spPr>
          <a:xfrm>
            <a:off x="9588703" y="5128037"/>
            <a:ext cx="634594" cy="330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64B86F-E1D2-336F-740E-2BB1A17AD33F}"/>
              </a:ext>
            </a:extLst>
          </p:cNvPr>
          <p:cNvSpPr txBox="1"/>
          <p:nvPr/>
        </p:nvSpPr>
        <p:spPr>
          <a:xfrm>
            <a:off x="8128000" y="5410199"/>
            <a:ext cx="3556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۱. احراز هویت متقاضی</a:t>
            </a:r>
            <a:endParaRPr lang="en-US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9F2D59-1383-0D48-FE10-6502DFF3727D}"/>
              </a:ext>
            </a:extLst>
          </p:cNvPr>
          <p:cNvSpPr txBox="1"/>
          <p:nvPr/>
        </p:nvSpPr>
        <p:spPr>
          <a:xfrm>
            <a:off x="8128000" y="5791200"/>
            <a:ext cx="355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sz="14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موبایل و کد ملی، با کد تایید پیامکی</a:t>
            </a:r>
            <a:endParaRPr lang="en-US" sz="14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3" name="Arrow: Left 22">
            <a:extLst>
              <a:ext uri="{FF2B5EF4-FFF2-40B4-BE49-F238E27FC236}">
                <a16:creationId xmlns:a16="http://schemas.microsoft.com/office/drawing/2014/main" id="{8A95077C-0F3B-9FC7-994F-F9F805F09CF7}"/>
              </a:ext>
            </a:extLst>
          </p:cNvPr>
          <p:cNvSpPr/>
          <p:nvPr/>
        </p:nvSpPr>
        <p:spPr>
          <a:xfrm>
            <a:off x="8229600" y="3175000"/>
            <a:ext cx="330200" cy="254000"/>
          </a:xfrm>
          <a:prstGeom prst="leftArrow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1EF15BD-9430-491E-4006-CCA724582A78}"/>
              </a:ext>
            </a:extLst>
          </p:cNvPr>
          <p:cNvSpPr/>
          <p:nvPr/>
        </p:nvSpPr>
        <p:spPr>
          <a:xfrm>
            <a:off x="5123180" y="2113280"/>
            <a:ext cx="38100" cy="198120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9DAC3D6-4D4E-C1E1-DD2D-A1A71B2D5EC1}"/>
              </a:ext>
            </a:extLst>
          </p:cNvPr>
          <p:cNvSpPr/>
          <p:nvPr/>
        </p:nvSpPr>
        <p:spPr>
          <a:xfrm>
            <a:off x="5123180" y="2430272"/>
            <a:ext cx="38100" cy="356616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BC99244-802D-BEF1-1F03-7FE16883A879}"/>
              </a:ext>
            </a:extLst>
          </p:cNvPr>
          <p:cNvSpPr/>
          <p:nvPr/>
        </p:nvSpPr>
        <p:spPr>
          <a:xfrm>
            <a:off x="5123180" y="2866136"/>
            <a:ext cx="38100" cy="356616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E64EB98-2058-29FE-5D82-BCF6202EC2DE}"/>
              </a:ext>
            </a:extLst>
          </p:cNvPr>
          <p:cNvSpPr/>
          <p:nvPr/>
        </p:nvSpPr>
        <p:spPr>
          <a:xfrm>
            <a:off x="7030720" y="2509520"/>
            <a:ext cx="38100" cy="515112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991460A-B3BC-B5B8-03C0-25D5FD6B0BEF}"/>
              </a:ext>
            </a:extLst>
          </p:cNvPr>
          <p:cNvSpPr/>
          <p:nvPr/>
        </p:nvSpPr>
        <p:spPr>
          <a:xfrm>
            <a:off x="5143500" y="1320800"/>
            <a:ext cx="1905000" cy="3962400"/>
          </a:xfrm>
          <a:prstGeom prst="roundRect">
            <a:avLst>
              <a:gd name="adj" fmla="val 165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>
            <a:outerShdw blurRad="203200" dist="88900" dir="5400000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50A1F86-AA46-D25D-1740-7B29536FE36C}"/>
              </a:ext>
            </a:extLst>
          </p:cNvPr>
          <p:cNvSpPr/>
          <p:nvPr/>
        </p:nvSpPr>
        <p:spPr>
          <a:xfrm>
            <a:off x="5171440" y="1348740"/>
            <a:ext cx="1849121" cy="3906520"/>
          </a:xfrm>
          <a:prstGeom prst="roundRect">
            <a:avLst>
              <a:gd name="adj" fmla="val 15968"/>
            </a:avLst>
          </a:prstGeom>
          <a:solidFill>
            <a:srgbClr val="0A0A0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2E801DE-F579-BDFA-9530-E81ED71B65B7}"/>
              </a:ext>
            </a:extLst>
          </p:cNvPr>
          <p:cNvSpPr/>
          <p:nvPr/>
        </p:nvSpPr>
        <p:spPr>
          <a:xfrm>
            <a:off x="5214620" y="1391920"/>
            <a:ext cx="1762760" cy="3820160"/>
          </a:xfrm>
          <a:prstGeom prst="roundRect">
            <a:avLst>
              <a:gd name="adj" fmla="val 15670"/>
            </a:avLst>
          </a:prstGeom>
          <a:blipFill>
            <a:blip r:embed="rId4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E544E34-4518-3793-C2C0-829C241408E8}"/>
              </a:ext>
            </a:extLst>
          </p:cNvPr>
          <p:cNvSpPr/>
          <p:nvPr/>
        </p:nvSpPr>
        <p:spPr>
          <a:xfrm>
            <a:off x="5805144" y="1453043"/>
            <a:ext cx="581711" cy="16746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70C00D-45F5-8E32-6E22-D51618A5906C}"/>
              </a:ext>
            </a:extLst>
          </p:cNvPr>
          <p:cNvSpPr txBox="1"/>
          <p:nvPr/>
        </p:nvSpPr>
        <p:spPr>
          <a:xfrm>
            <a:off x="5373269" y="1544481"/>
            <a:ext cx="387807" cy="16746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694" b="1">
                <a:solidFill>
                  <a:srgbClr val="000000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11:47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BB51206-6063-AF2A-C1F7-13D6F3E97FC9}"/>
              </a:ext>
            </a:extLst>
          </p:cNvPr>
          <p:cNvSpPr/>
          <p:nvPr/>
        </p:nvSpPr>
        <p:spPr>
          <a:xfrm>
            <a:off x="6448552" y="1531750"/>
            <a:ext cx="21590" cy="4186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AAFC545-CA8C-19B2-39CB-8570F4D65503}"/>
              </a:ext>
            </a:extLst>
          </p:cNvPr>
          <p:cNvSpPr/>
          <p:nvPr/>
        </p:nvSpPr>
        <p:spPr>
          <a:xfrm>
            <a:off x="6481572" y="1509980"/>
            <a:ext cx="21590" cy="6363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4E60BF0-B1B2-06F1-BB07-8202948DED93}"/>
              </a:ext>
            </a:extLst>
          </p:cNvPr>
          <p:cNvSpPr/>
          <p:nvPr/>
        </p:nvSpPr>
        <p:spPr>
          <a:xfrm>
            <a:off x="6514592" y="1488210"/>
            <a:ext cx="21590" cy="8540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403E35B-B9A0-7192-6233-B24F501F06F9}"/>
              </a:ext>
            </a:extLst>
          </p:cNvPr>
          <p:cNvSpPr/>
          <p:nvPr/>
        </p:nvSpPr>
        <p:spPr>
          <a:xfrm>
            <a:off x="6547612" y="1466440"/>
            <a:ext cx="21590" cy="10717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ED4F6DA-2EA7-65AC-AF38-0B254FAC17EF}"/>
              </a:ext>
            </a:extLst>
          </p:cNvPr>
          <p:cNvSpPr/>
          <p:nvPr/>
        </p:nvSpPr>
        <p:spPr>
          <a:xfrm>
            <a:off x="6624828" y="1499932"/>
            <a:ext cx="149834" cy="78707"/>
          </a:xfrm>
          <a:prstGeom prst="roundRect">
            <a:avLst>
              <a:gd name="adj" fmla="val 35499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444" b="1">
                <a:solidFill>
                  <a:srgbClr val="FFFFFF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89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47F9B0C-DE2F-5ECB-1940-19401BBB41C9}"/>
              </a:ext>
            </a:extLst>
          </p:cNvPr>
          <p:cNvSpPr/>
          <p:nvPr/>
        </p:nvSpPr>
        <p:spPr>
          <a:xfrm>
            <a:off x="6779743" y="1523377"/>
            <a:ext cx="13969" cy="33492"/>
          </a:xfrm>
          <a:prstGeom prst="roundRect">
            <a:avLst>
              <a:gd name="adj" fmla="val 45455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E80D27B-8A21-5AE3-2ED4-24F84DE5F77D}"/>
              </a:ext>
            </a:extLst>
          </p:cNvPr>
          <p:cNvSpPr/>
          <p:nvPr/>
        </p:nvSpPr>
        <p:spPr>
          <a:xfrm>
            <a:off x="5778703" y="5128037"/>
            <a:ext cx="634594" cy="330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E35B4A-4CB0-0749-2B14-0F4C07595B3B}"/>
              </a:ext>
            </a:extLst>
          </p:cNvPr>
          <p:cNvSpPr txBox="1"/>
          <p:nvPr/>
        </p:nvSpPr>
        <p:spPr>
          <a:xfrm>
            <a:off x="4318000" y="5410199"/>
            <a:ext cx="3556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۲. انتخاب محوطه</a:t>
            </a:r>
            <a:endParaRPr lang="en-US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5E1C89-6249-1DDE-2CDA-ACB13F9509FA}"/>
              </a:ext>
            </a:extLst>
          </p:cNvPr>
          <p:cNvSpPr txBox="1"/>
          <p:nvPr/>
        </p:nvSpPr>
        <p:spPr>
          <a:xfrm>
            <a:off x="4318000" y="5791200"/>
            <a:ext cx="355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sz="14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شرکتی که ارزیابی در محوطه‌ی آن انجام می‌شود</a:t>
            </a:r>
            <a:endParaRPr lang="en-US" sz="14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2" name="Arrow: Left 41">
            <a:extLst>
              <a:ext uri="{FF2B5EF4-FFF2-40B4-BE49-F238E27FC236}">
                <a16:creationId xmlns:a16="http://schemas.microsoft.com/office/drawing/2014/main" id="{E2C0BEAC-7C32-107B-066A-4987D001F54E}"/>
              </a:ext>
            </a:extLst>
          </p:cNvPr>
          <p:cNvSpPr/>
          <p:nvPr/>
        </p:nvSpPr>
        <p:spPr>
          <a:xfrm>
            <a:off x="4419600" y="3175000"/>
            <a:ext cx="330200" cy="254000"/>
          </a:xfrm>
          <a:prstGeom prst="leftArrow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28FED12-9B3E-AAEB-FA99-2D6C885EE8CF}"/>
              </a:ext>
            </a:extLst>
          </p:cNvPr>
          <p:cNvSpPr/>
          <p:nvPr/>
        </p:nvSpPr>
        <p:spPr>
          <a:xfrm>
            <a:off x="1313180" y="2113280"/>
            <a:ext cx="38100" cy="198120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B9B7D3E-993C-026E-D735-12914F114E28}"/>
              </a:ext>
            </a:extLst>
          </p:cNvPr>
          <p:cNvSpPr/>
          <p:nvPr/>
        </p:nvSpPr>
        <p:spPr>
          <a:xfrm>
            <a:off x="1313180" y="2430272"/>
            <a:ext cx="38100" cy="356616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4EE3BDA-612A-97B5-6B0D-DE65B10709E8}"/>
              </a:ext>
            </a:extLst>
          </p:cNvPr>
          <p:cNvSpPr/>
          <p:nvPr/>
        </p:nvSpPr>
        <p:spPr>
          <a:xfrm>
            <a:off x="1313180" y="2866136"/>
            <a:ext cx="38100" cy="356616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6CE07BB-B5D9-21EB-CF35-1BD858B386DB}"/>
              </a:ext>
            </a:extLst>
          </p:cNvPr>
          <p:cNvSpPr/>
          <p:nvPr/>
        </p:nvSpPr>
        <p:spPr>
          <a:xfrm>
            <a:off x="3220720" y="2509520"/>
            <a:ext cx="38100" cy="515112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27CC9C9-D7A6-4A35-149A-CA47C0B26828}"/>
              </a:ext>
            </a:extLst>
          </p:cNvPr>
          <p:cNvSpPr/>
          <p:nvPr/>
        </p:nvSpPr>
        <p:spPr>
          <a:xfrm>
            <a:off x="1333500" y="1320800"/>
            <a:ext cx="1905000" cy="3962400"/>
          </a:xfrm>
          <a:prstGeom prst="roundRect">
            <a:avLst>
              <a:gd name="adj" fmla="val 165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>
            <a:outerShdw blurRad="203200" dist="88900" dir="5400000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21630B7-0768-54D0-44A5-72CB575C6F11}"/>
              </a:ext>
            </a:extLst>
          </p:cNvPr>
          <p:cNvSpPr/>
          <p:nvPr/>
        </p:nvSpPr>
        <p:spPr>
          <a:xfrm>
            <a:off x="1361440" y="1348740"/>
            <a:ext cx="1849120" cy="3906520"/>
          </a:xfrm>
          <a:prstGeom prst="roundRect">
            <a:avLst>
              <a:gd name="adj" fmla="val 15968"/>
            </a:avLst>
          </a:prstGeom>
          <a:solidFill>
            <a:srgbClr val="0A0A0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43E48DC-DDC4-3E45-84DF-8290A35CB3BD}"/>
              </a:ext>
            </a:extLst>
          </p:cNvPr>
          <p:cNvSpPr/>
          <p:nvPr/>
        </p:nvSpPr>
        <p:spPr>
          <a:xfrm>
            <a:off x="1404620" y="1391920"/>
            <a:ext cx="1762760" cy="3820160"/>
          </a:xfrm>
          <a:prstGeom prst="roundRect">
            <a:avLst>
              <a:gd name="adj" fmla="val 15670"/>
            </a:avLst>
          </a:prstGeom>
          <a:blipFill>
            <a:blip r:embed="rId5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A1C15AD-49F9-083A-337F-037CBBBF5972}"/>
              </a:ext>
            </a:extLst>
          </p:cNvPr>
          <p:cNvSpPr/>
          <p:nvPr/>
        </p:nvSpPr>
        <p:spPr>
          <a:xfrm>
            <a:off x="1995145" y="1453043"/>
            <a:ext cx="581711" cy="16746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7F0824-3971-9F82-23A7-95D489A005C9}"/>
              </a:ext>
            </a:extLst>
          </p:cNvPr>
          <p:cNvSpPr txBox="1"/>
          <p:nvPr/>
        </p:nvSpPr>
        <p:spPr>
          <a:xfrm>
            <a:off x="1563268" y="1544481"/>
            <a:ext cx="387807" cy="16746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694" b="1">
                <a:solidFill>
                  <a:srgbClr val="000000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11:47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096D196-74E4-AD58-D8F4-D56BC6BD0E46}"/>
              </a:ext>
            </a:extLst>
          </p:cNvPr>
          <p:cNvSpPr/>
          <p:nvPr/>
        </p:nvSpPr>
        <p:spPr>
          <a:xfrm>
            <a:off x="2638552" y="1531750"/>
            <a:ext cx="21590" cy="4186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11DFAE29-1558-A78C-98F6-67FA3DDF0B72}"/>
              </a:ext>
            </a:extLst>
          </p:cNvPr>
          <p:cNvSpPr/>
          <p:nvPr/>
        </p:nvSpPr>
        <p:spPr>
          <a:xfrm>
            <a:off x="2671572" y="1509980"/>
            <a:ext cx="21590" cy="6363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CD3267C3-43B2-0849-301C-077252C2B922}"/>
              </a:ext>
            </a:extLst>
          </p:cNvPr>
          <p:cNvSpPr/>
          <p:nvPr/>
        </p:nvSpPr>
        <p:spPr>
          <a:xfrm>
            <a:off x="2704592" y="1488210"/>
            <a:ext cx="21590" cy="8540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683C6ABA-FCB6-8A25-FA64-FADD60D458A4}"/>
              </a:ext>
            </a:extLst>
          </p:cNvPr>
          <p:cNvSpPr/>
          <p:nvPr/>
        </p:nvSpPr>
        <p:spPr>
          <a:xfrm>
            <a:off x="2737612" y="1466440"/>
            <a:ext cx="21590" cy="10717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11B2ABB-E9A9-639F-12D6-CBF3D1D2BAC3}"/>
              </a:ext>
            </a:extLst>
          </p:cNvPr>
          <p:cNvSpPr/>
          <p:nvPr/>
        </p:nvSpPr>
        <p:spPr>
          <a:xfrm>
            <a:off x="2814828" y="1499932"/>
            <a:ext cx="149835" cy="78707"/>
          </a:xfrm>
          <a:prstGeom prst="roundRect">
            <a:avLst>
              <a:gd name="adj" fmla="val 35499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444" b="1">
                <a:solidFill>
                  <a:srgbClr val="FFFFFF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89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ED15A219-F858-5F89-2CD5-5AFEC626B5D2}"/>
              </a:ext>
            </a:extLst>
          </p:cNvPr>
          <p:cNvSpPr/>
          <p:nvPr/>
        </p:nvSpPr>
        <p:spPr>
          <a:xfrm>
            <a:off x="2969743" y="1523377"/>
            <a:ext cx="13970" cy="33492"/>
          </a:xfrm>
          <a:prstGeom prst="roundRect">
            <a:avLst>
              <a:gd name="adj" fmla="val 45455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1B23AD2D-D7DE-AE5C-11E6-8CB92ECDA937}"/>
              </a:ext>
            </a:extLst>
          </p:cNvPr>
          <p:cNvSpPr/>
          <p:nvPr/>
        </p:nvSpPr>
        <p:spPr>
          <a:xfrm>
            <a:off x="1968703" y="5128037"/>
            <a:ext cx="634594" cy="330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76A84F-2BB9-47F6-B210-C360A1CACBB3}"/>
              </a:ext>
            </a:extLst>
          </p:cNvPr>
          <p:cNvSpPr txBox="1"/>
          <p:nvPr/>
        </p:nvSpPr>
        <p:spPr>
          <a:xfrm>
            <a:off x="508000" y="5410199"/>
            <a:ext cx="3556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۳. ثبت و کد پیگیری</a:t>
            </a:r>
            <a:endParaRPr lang="en-US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2A22E9-580F-F80E-755B-18CF4614EFF9}"/>
              </a:ext>
            </a:extLst>
          </p:cNvPr>
          <p:cNvSpPr txBox="1"/>
          <p:nvPr/>
        </p:nvSpPr>
        <p:spPr>
          <a:xfrm>
            <a:off x="508000" y="5791200"/>
            <a:ext cx="355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sz="14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کد پیگیری روی صفحه نمایش داده و پیامک می‌شود</a:t>
            </a:r>
            <a:endParaRPr lang="en-US" sz="14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EEBECC-8B79-F387-320F-FF67557696F7}"/>
              </a:ext>
            </a:extLst>
          </p:cNvPr>
          <p:cNvSpPr txBox="1"/>
          <p:nvPr/>
        </p:nvSpPr>
        <p:spPr>
          <a:xfrm>
            <a:off x="5588000" y="6426200"/>
            <a:ext cx="609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سامانه احراز اصالت سند و قبض انبار · بنادر و دریانوردی هرمزگان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9ACE3DD-CA42-9F36-D338-7BE8C22CB37B}"/>
              </a:ext>
            </a:extLst>
          </p:cNvPr>
          <p:cNvSpPr txBox="1"/>
          <p:nvPr/>
        </p:nvSpPr>
        <p:spPr>
          <a:xfrm>
            <a:off x="508000" y="6426200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۸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09120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9C6EE1-255C-F19B-3B0D-1B6A44BE3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305" y="1052052"/>
            <a:ext cx="10443390" cy="54501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3BE11B-7F5B-4878-5B66-D66D2BE0B13D}"/>
              </a:ext>
            </a:extLst>
          </p:cNvPr>
          <p:cNvSpPr txBox="1"/>
          <p:nvPr/>
        </p:nvSpPr>
        <p:spPr>
          <a:xfrm>
            <a:off x="2540000" y="279400"/>
            <a:ext cx="9144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fa-IR" sz="3400" b="1" dirty="0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تعیین</a:t>
            </a:r>
            <a:r>
              <a:rPr lang="ar-SA" sz="3400" b="1" dirty="0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 نوبت ارزیابی</a:t>
            </a:r>
            <a:r>
              <a:rPr lang="fa-IR" sz="3400" b="1" dirty="0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 توسط کارشناس</a:t>
            </a:r>
            <a:endParaRPr lang="en-US" sz="3400" b="1" dirty="0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14B4A7E-8134-989A-ACEF-0BA640CC45FB}"/>
              </a:ext>
            </a:extLst>
          </p:cNvPr>
          <p:cNvSpPr/>
          <p:nvPr/>
        </p:nvSpPr>
        <p:spPr>
          <a:xfrm>
            <a:off x="508000" y="4064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400" b="1" dirty="0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نوبت ارزیابی</a:t>
            </a:r>
            <a:endParaRPr lang="en-US" sz="1400" b="1" dirty="0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49603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83AEF2-DD40-3939-E3D8-B5A7E5DC2593}"/>
              </a:ext>
            </a:extLst>
          </p:cNvPr>
          <p:cNvSpPr txBox="1"/>
          <p:nvPr/>
        </p:nvSpPr>
        <p:spPr>
          <a:xfrm>
            <a:off x="2540000" y="279400"/>
            <a:ext cx="9144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3400" b="1" dirty="0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نتیجه‌ی نوبت ارزیابی</a:t>
            </a:r>
            <a:endParaRPr lang="en-US" sz="3400" b="1" dirty="0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68FD1-C67C-6594-26CE-A9C2962C579D}"/>
              </a:ext>
            </a:extLst>
          </p:cNvPr>
          <p:cNvSpPr txBox="1"/>
          <p:nvPr/>
        </p:nvSpPr>
        <p:spPr>
          <a:xfrm>
            <a:off x="508000" y="965199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پیامک‌های واقعی همین درخواست: تایید ثبت، سپس روز و ساعت نوبت</a:t>
            </a:r>
            <a:endParaRPr lang="en-US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5E03D14-BA6F-5883-645D-16A2B4B73F53}"/>
              </a:ext>
            </a:extLst>
          </p:cNvPr>
          <p:cNvSpPr/>
          <p:nvPr/>
        </p:nvSpPr>
        <p:spPr>
          <a:xfrm>
            <a:off x="508000" y="4064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400" b="1" dirty="0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نوبت ارزیابی</a:t>
            </a:r>
            <a:endParaRPr lang="en-US" sz="1400" b="1" dirty="0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B393A8-A320-815F-A420-6304C0EC1C27}"/>
              </a:ext>
            </a:extLst>
          </p:cNvPr>
          <p:cNvSpPr/>
          <p:nvPr/>
        </p:nvSpPr>
        <p:spPr>
          <a:xfrm>
            <a:off x="487680" y="2321560"/>
            <a:ext cx="38100" cy="224790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C50E0F-2B01-1CEE-94FF-12B99B83573B}"/>
              </a:ext>
            </a:extLst>
          </p:cNvPr>
          <p:cNvSpPr/>
          <p:nvPr/>
        </p:nvSpPr>
        <p:spPr>
          <a:xfrm>
            <a:off x="487680" y="2681224"/>
            <a:ext cx="38100" cy="404622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2A40FC-3580-FF79-9C0D-599843870882}"/>
              </a:ext>
            </a:extLst>
          </p:cNvPr>
          <p:cNvSpPr/>
          <p:nvPr/>
        </p:nvSpPr>
        <p:spPr>
          <a:xfrm>
            <a:off x="487680" y="3175762"/>
            <a:ext cx="38100" cy="404622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3C65B50-DC40-AA2D-65D1-AA41682428FF}"/>
              </a:ext>
            </a:extLst>
          </p:cNvPr>
          <p:cNvSpPr/>
          <p:nvPr/>
        </p:nvSpPr>
        <p:spPr>
          <a:xfrm>
            <a:off x="2649220" y="2771140"/>
            <a:ext cx="38100" cy="584454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5FD04D-3055-ADFD-2317-2090EE8851F4}"/>
              </a:ext>
            </a:extLst>
          </p:cNvPr>
          <p:cNvSpPr/>
          <p:nvPr/>
        </p:nvSpPr>
        <p:spPr>
          <a:xfrm>
            <a:off x="508000" y="1422400"/>
            <a:ext cx="2159000" cy="4495800"/>
          </a:xfrm>
          <a:prstGeom prst="roundRect">
            <a:avLst>
              <a:gd name="adj" fmla="val 165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>
            <a:outerShdw blurRad="203200" dist="88900" dir="5400000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D8AB38-B1FE-F2E0-6984-DAA84A666F07}"/>
              </a:ext>
            </a:extLst>
          </p:cNvPr>
          <p:cNvSpPr/>
          <p:nvPr/>
        </p:nvSpPr>
        <p:spPr>
          <a:xfrm>
            <a:off x="535940" y="1450340"/>
            <a:ext cx="2103120" cy="4439920"/>
          </a:xfrm>
          <a:prstGeom prst="roundRect">
            <a:avLst>
              <a:gd name="adj" fmla="val 15912"/>
            </a:avLst>
          </a:prstGeom>
          <a:solidFill>
            <a:srgbClr val="0A0A0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CBD2A8-5EE4-97B7-C9E8-DA1AA2234A34}"/>
              </a:ext>
            </a:extLst>
          </p:cNvPr>
          <p:cNvSpPr/>
          <p:nvPr/>
        </p:nvSpPr>
        <p:spPr>
          <a:xfrm>
            <a:off x="579120" y="1493520"/>
            <a:ext cx="2016760" cy="4353560"/>
          </a:xfrm>
          <a:prstGeom prst="roundRect">
            <a:avLst>
              <a:gd name="adj" fmla="val 15523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B36360-8FB7-3E6D-4284-817689A6B7EA}"/>
              </a:ext>
            </a:extLst>
          </p:cNvPr>
          <p:cNvSpPr/>
          <p:nvPr/>
        </p:nvSpPr>
        <p:spPr>
          <a:xfrm>
            <a:off x="1254735" y="1563177"/>
            <a:ext cx="665530" cy="19159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B3AC7E-526D-4212-48C0-F5345712AE17}"/>
              </a:ext>
            </a:extLst>
          </p:cNvPr>
          <p:cNvSpPr txBox="1"/>
          <p:nvPr/>
        </p:nvSpPr>
        <p:spPr>
          <a:xfrm>
            <a:off x="760628" y="1646919"/>
            <a:ext cx="443687" cy="19159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794" b="1">
                <a:solidFill>
                  <a:srgbClr val="000000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11:56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6D33C9E-2F65-B1B4-B0C8-D7B945E9DF0B}"/>
              </a:ext>
            </a:extLst>
          </p:cNvPr>
          <p:cNvSpPr/>
          <p:nvPr/>
        </p:nvSpPr>
        <p:spPr>
          <a:xfrm>
            <a:off x="1990852" y="1653225"/>
            <a:ext cx="21590" cy="47898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987A753-5662-AB01-D5B2-ECC2E59D79E7}"/>
              </a:ext>
            </a:extLst>
          </p:cNvPr>
          <p:cNvSpPr/>
          <p:nvPr/>
        </p:nvSpPr>
        <p:spPr>
          <a:xfrm>
            <a:off x="2023872" y="1628318"/>
            <a:ext cx="21590" cy="7280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01F61F2-92EA-8C9C-0063-0D3B14129D7C}"/>
              </a:ext>
            </a:extLst>
          </p:cNvPr>
          <p:cNvSpPr/>
          <p:nvPr/>
        </p:nvSpPr>
        <p:spPr>
          <a:xfrm>
            <a:off x="2056892" y="1603411"/>
            <a:ext cx="21590" cy="97712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FDB7BA0-A1ED-C1DA-CF00-17F0B4A2FFD1}"/>
              </a:ext>
            </a:extLst>
          </p:cNvPr>
          <p:cNvSpPr/>
          <p:nvPr/>
        </p:nvSpPr>
        <p:spPr>
          <a:xfrm>
            <a:off x="2089912" y="1578504"/>
            <a:ext cx="21590" cy="122619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92B354B-091B-D5D7-48B2-773229C98AFF}"/>
              </a:ext>
            </a:extLst>
          </p:cNvPr>
          <p:cNvSpPr/>
          <p:nvPr/>
        </p:nvSpPr>
        <p:spPr>
          <a:xfrm>
            <a:off x="2192528" y="1616823"/>
            <a:ext cx="171425" cy="90048"/>
          </a:xfrm>
          <a:prstGeom prst="roundRect">
            <a:avLst>
              <a:gd name="adj" fmla="val 31028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508" b="1">
                <a:solidFill>
                  <a:srgbClr val="FFFFFF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89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3AECF77-F722-F6A7-DF60-69B5B9849923}"/>
              </a:ext>
            </a:extLst>
          </p:cNvPr>
          <p:cNvSpPr/>
          <p:nvPr/>
        </p:nvSpPr>
        <p:spPr>
          <a:xfrm>
            <a:off x="2369033" y="1643646"/>
            <a:ext cx="13970" cy="38318"/>
          </a:xfrm>
          <a:prstGeom prst="roundRect">
            <a:avLst>
              <a:gd name="adj" fmla="val 45455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C1B37A8-41E0-9306-69B3-25F4E719DFDE}"/>
              </a:ext>
            </a:extLst>
          </p:cNvPr>
          <p:cNvSpPr/>
          <p:nvPr/>
        </p:nvSpPr>
        <p:spPr>
          <a:xfrm>
            <a:off x="1436243" y="1859255"/>
            <a:ext cx="302514" cy="302513"/>
          </a:xfrm>
          <a:prstGeom prst="ellipse">
            <a:avLst/>
          </a:prstGeom>
          <a:solidFill>
            <a:srgbClr val="A4AAB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64FE00B-BA46-5425-4F12-DEFE97D583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746" y="1913707"/>
            <a:ext cx="181508" cy="181508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655A785-4C16-2CD7-B784-3928E00079C9}"/>
              </a:ext>
            </a:extLst>
          </p:cNvPr>
          <p:cNvSpPr/>
          <p:nvPr/>
        </p:nvSpPr>
        <p:spPr>
          <a:xfrm>
            <a:off x="1083310" y="2193519"/>
            <a:ext cx="1008380" cy="151257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35" b="1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0983 000 2892  ›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E3549D6-4F94-08E0-28B7-6EBF7940BC5C}"/>
              </a:ext>
            </a:extLst>
          </p:cNvPr>
          <p:cNvSpPr/>
          <p:nvPr/>
        </p:nvSpPr>
        <p:spPr>
          <a:xfrm>
            <a:off x="679958" y="1884655"/>
            <a:ext cx="282346" cy="282346"/>
          </a:xfrm>
          <a:prstGeom prst="ellipse">
            <a:avLst/>
          </a:prstGeom>
          <a:solidFill>
            <a:srgbClr val="F2F2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588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‹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C4F79E6-10E2-9554-BA60-03D37849FC75}"/>
              </a:ext>
            </a:extLst>
          </p:cNvPr>
          <p:cNvSpPr/>
          <p:nvPr/>
        </p:nvSpPr>
        <p:spPr>
          <a:xfrm>
            <a:off x="1224483" y="5751302"/>
            <a:ext cx="726034" cy="330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E74F2C4-7234-9D89-63D1-E229F83EF2BC}"/>
              </a:ext>
            </a:extLst>
          </p:cNvPr>
          <p:cNvSpPr/>
          <p:nvPr/>
        </p:nvSpPr>
        <p:spPr>
          <a:xfrm>
            <a:off x="659790" y="5343632"/>
            <a:ext cx="211760" cy="211760"/>
          </a:xfrm>
          <a:prstGeom prst="ellipse">
            <a:avLst/>
          </a:prstGeom>
          <a:solidFill>
            <a:srgbClr val="F2F2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91">
                <a:solidFill>
                  <a:srgbClr val="3C3C4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+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55B00A0-DA34-C0BE-9966-C2015B47534B}"/>
              </a:ext>
            </a:extLst>
          </p:cNvPr>
          <p:cNvSpPr/>
          <p:nvPr/>
        </p:nvSpPr>
        <p:spPr>
          <a:xfrm>
            <a:off x="922350" y="5343632"/>
            <a:ext cx="1592860" cy="211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 cap="flat" cmpd="sng" algn="ctr">
            <a:solidFill>
              <a:srgbClr val="D1D1D6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0" rIns="0" bIns="0" rtlCol="0" anchor="ctr"/>
          <a:lstStyle/>
          <a:p>
            <a:r>
              <a:rPr lang="en-US" sz="667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Text Message • SMS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610342-14B2-DB30-28B1-4E2F051C8394}"/>
              </a:ext>
            </a:extLst>
          </p:cNvPr>
          <p:cNvSpPr txBox="1"/>
          <p:nvPr/>
        </p:nvSpPr>
        <p:spPr>
          <a:xfrm>
            <a:off x="579120" y="3036600"/>
            <a:ext cx="2016760" cy="17607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572" b="1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Text Message</a:t>
            </a:r>
          </a:p>
          <a:p>
            <a:pPr algn="ctr"/>
            <a:r>
              <a:rPr lang="en-US" sz="572">
                <a:solidFill>
                  <a:srgbClr val="8E8E93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Today 11:48 AM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C5863E1-3D14-9EBE-1AE0-CAE54DA2EC96}"/>
              </a:ext>
            </a:extLst>
          </p:cNvPr>
          <p:cNvSpPr/>
          <p:nvPr/>
        </p:nvSpPr>
        <p:spPr>
          <a:xfrm>
            <a:off x="669874" y="3257124"/>
            <a:ext cx="1694079" cy="976579"/>
          </a:xfrm>
          <a:prstGeom prst="roundRect">
            <a:avLst>
              <a:gd name="adj" fmla="val 11704"/>
            </a:avLst>
          </a:prstGeom>
          <a:solidFill>
            <a:srgbClr val="E9E9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t">
            <a:spAutoFit/>
          </a:bodyPr>
          <a:lstStyle/>
          <a:p>
            <a:pPr algn="r" rtl="1">
              <a:lnSpc>
                <a:spcPct val="95000"/>
              </a:lnSpc>
            </a:pPr>
            <a:r>
              <a:rPr lang="ar-SA" sz="762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کاربر گرامی، درخواست نوبت ارزیابی شما برای محوطه شرکت افق با موفقیت ثبت شد.</a:t>
            </a:r>
          </a:p>
          <a:p>
            <a:pPr algn="r" rtl="1">
              <a:lnSpc>
                <a:spcPct val="95000"/>
              </a:lnSpc>
            </a:pPr>
            <a:r>
              <a:rPr lang="ar-SA" sz="762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کد پیگیری: </a:t>
            </a:r>
            <a:r>
              <a:rPr lang="en-US" sz="762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REQ00020268</a:t>
            </a:r>
          </a:p>
          <a:p>
            <a:pPr algn="r" rtl="1">
              <a:lnSpc>
                <a:spcPct val="95000"/>
              </a:lnSpc>
            </a:pPr>
            <a:r>
              <a:rPr lang="ar-SA" sz="762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اداره کل بنادر و دریانوردی استان هرمزگان</a:t>
            </a:r>
          </a:p>
          <a:p>
            <a:pPr algn="r" rtl="1">
              <a:lnSpc>
                <a:spcPct val="95000"/>
              </a:lnSpc>
            </a:pPr>
            <a:r>
              <a:rPr lang="ar-SA" sz="762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1405/08/03 11:48:02 ق.ظ</a:t>
            </a:r>
            <a:endParaRPr lang="en-US" sz="762">
              <a:solidFill>
                <a:srgbClr val="1C1C1E"/>
              </a:solidFill>
              <a:latin typeface="Segoe UI" panose="020B0502040204020203" pitchFamily="34" charset="0"/>
              <a:cs typeface="Tahoma" panose="020B060403050404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FD08B5E-10A5-8119-215D-898BB1B8D976}"/>
              </a:ext>
            </a:extLst>
          </p:cNvPr>
          <p:cNvSpPr/>
          <p:nvPr/>
        </p:nvSpPr>
        <p:spPr>
          <a:xfrm>
            <a:off x="669874" y="4278153"/>
            <a:ext cx="1694079" cy="976579"/>
          </a:xfrm>
          <a:prstGeom prst="roundRect">
            <a:avLst>
              <a:gd name="adj" fmla="val 11704"/>
            </a:avLst>
          </a:prstGeom>
          <a:solidFill>
            <a:srgbClr val="E9E9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t">
            <a:spAutoFit/>
          </a:bodyPr>
          <a:lstStyle/>
          <a:p>
            <a:pPr algn="r" rtl="1">
              <a:lnSpc>
                <a:spcPct val="95000"/>
              </a:lnSpc>
            </a:pPr>
            <a:r>
              <a:rPr lang="ar-SA" sz="762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کاربر گرامی، نوبت ارزیابی شما در محوطه شرکت افق روز یکشنبه ۱۰ آبان ۱۴۰۵ ساعت ۱۸:۰۰ تعیین شد.</a:t>
            </a:r>
          </a:p>
          <a:p>
            <a:pPr algn="r" rtl="1">
              <a:lnSpc>
                <a:spcPct val="95000"/>
              </a:lnSpc>
            </a:pPr>
            <a:r>
              <a:rPr lang="ar-SA" sz="762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کد پیگیری: </a:t>
            </a:r>
            <a:r>
              <a:rPr lang="en-US" sz="762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REQ00020268</a:t>
            </a:r>
          </a:p>
          <a:p>
            <a:pPr algn="r" rtl="1">
              <a:lnSpc>
                <a:spcPct val="95000"/>
              </a:lnSpc>
            </a:pPr>
            <a:r>
              <a:rPr lang="ar-SA" sz="762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اداره کل بنادر و دریانوردی استان هرمزگان</a:t>
            </a:r>
          </a:p>
          <a:p>
            <a:pPr algn="r" rtl="1">
              <a:lnSpc>
                <a:spcPct val="95000"/>
              </a:lnSpc>
            </a:pPr>
            <a:r>
              <a:rPr lang="ar-SA" sz="762">
                <a:solidFill>
                  <a:srgbClr val="1C1C1E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1405/08/03 11:51:10 ق.ظ</a:t>
            </a:r>
            <a:endParaRPr lang="en-US" sz="762">
              <a:solidFill>
                <a:srgbClr val="1C1C1E"/>
              </a:solidFill>
              <a:latin typeface="Segoe UI" panose="020B0502040204020203" pitchFamily="34" charset="0"/>
              <a:cs typeface="Tahoma" panose="020B060403050404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77C3190-55E6-45B7-5383-FB22DA1ED775}"/>
              </a:ext>
            </a:extLst>
          </p:cNvPr>
          <p:cNvSpPr/>
          <p:nvPr/>
        </p:nvSpPr>
        <p:spPr>
          <a:xfrm>
            <a:off x="3124200" y="1498600"/>
            <a:ext cx="2489200" cy="1905000"/>
          </a:xfrm>
          <a:prstGeom prst="roundRect">
            <a:avLst>
              <a:gd name="adj" fmla="val 10667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731568-A667-2085-2D56-6D7F993E4EB5}"/>
              </a:ext>
            </a:extLst>
          </p:cNvPr>
          <p:cNvSpPr txBox="1"/>
          <p:nvPr/>
        </p:nvSpPr>
        <p:spPr>
          <a:xfrm>
            <a:off x="3251200" y="1701800"/>
            <a:ext cx="22352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sz="3400" b="1">
                <a:solidFill>
                  <a:srgbClr val="2563A8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۳ دقیقه</a:t>
            </a:r>
            <a:endParaRPr lang="en-US" sz="3400" b="1">
              <a:solidFill>
                <a:srgbClr val="2563A8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553D81-878D-C2D0-E24E-AF14F6BDFE90}"/>
              </a:ext>
            </a:extLst>
          </p:cNvPr>
          <p:cNvSpPr txBox="1"/>
          <p:nvPr/>
        </p:nvSpPr>
        <p:spPr>
          <a:xfrm>
            <a:off x="3251200" y="2438399"/>
            <a:ext cx="2235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sz="14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از ثبت درخواست تا تعیین نوبت</a:t>
            </a:r>
          </a:p>
          <a:p>
            <a:pPr algn="ctr" rtl="1"/>
            <a:r>
              <a:rPr lang="ar-SA" sz="14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(نمونه‌ی پیامک‌های کنار)</a:t>
            </a:r>
            <a:endParaRPr lang="en-US" sz="14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B1004D1-29D5-FA32-640D-95BDB6BAEBBF}"/>
              </a:ext>
            </a:extLst>
          </p:cNvPr>
          <p:cNvSpPr/>
          <p:nvPr/>
        </p:nvSpPr>
        <p:spPr>
          <a:xfrm>
            <a:off x="3124200" y="3606800"/>
            <a:ext cx="2489200" cy="2336800"/>
          </a:xfrm>
          <a:prstGeom prst="roundRect">
            <a:avLst>
              <a:gd name="adj" fmla="val 8696"/>
            </a:avLst>
          </a:prstGeom>
          <a:solidFill>
            <a:srgbClr val="13294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E80C6C7-D2ED-BE24-9B0F-06090D901ED4}"/>
              </a:ext>
            </a:extLst>
          </p:cNvPr>
          <p:cNvSpPr/>
          <p:nvPr/>
        </p:nvSpPr>
        <p:spPr>
          <a:xfrm>
            <a:off x="4064000" y="3810000"/>
            <a:ext cx="609600" cy="609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2310B33-89E8-B042-8391-787779E3194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2016" y="3938016"/>
            <a:ext cx="353568" cy="35356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9FDA9A0-9134-507E-B68C-7FA6FFFECC5D}"/>
              </a:ext>
            </a:extLst>
          </p:cNvPr>
          <p:cNvSpPr txBox="1"/>
          <p:nvPr/>
        </p:nvSpPr>
        <p:spPr>
          <a:xfrm>
            <a:off x="3251200" y="4495800"/>
            <a:ext cx="2235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sz="2400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۲ پیامک</a:t>
            </a:r>
            <a:endParaRPr lang="en-US" sz="2400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E3263E-37A8-FB44-1B2B-A82E1E449357}"/>
              </a:ext>
            </a:extLst>
          </p:cNvPr>
          <p:cNvSpPr txBox="1"/>
          <p:nvPr/>
        </p:nvSpPr>
        <p:spPr>
          <a:xfrm>
            <a:off x="3251200" y="4978399"/>
            <a:ext cx="2235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sz="14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تایید ثبت با کد پیگیری</a:t>
            </a:r>
          </a:p>
          <a:p>
            <a:pPr algn="ctr" rtl="1"/>
            <a:r>
              <a:rPr lang="ar-SA" sz="14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و اعلام روز و ساعت نوبت</a:t>
            </a:r>
            <a:endParaRPr lang="en-US" sz="14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3084C22-E5CE-4B12-B0AA-26EFA17AE8E7}"/>
              </a:ext>
            </a:extLst>
          </p:cNvPr>
          <p:cNvSpPr/>
          <p:nvPr/>
        </p:nvSpPr>
        <p:spPr>
          <a:xfrm>
            <a:off x="11226800" y="1524000"/>
            <a:ext cx="457200" cy="4572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7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۱</a:t>
            </a:r>
            <a:endParaRPr lang="en-US" sz="17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8A1FA1-DCFF-3660-B67E-99446569A637}"/>
              </a:ext>
            </a:extLst>
          </p:cNvPr>
          <p:cNvSpPr txBox="1"/>
          <p:nvPr/>
        </p:nvSpPr>
        <p:spPr>
          <a:xfrm>
            <a:off x="6070600" y="1536700"/>
            <a:ext cx="5029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ثبت درخواست</a:t>
            </a:r>
            <a:endParaRPr lang="en-US" sz="19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E26040-BB71-F029-A8F7-4C98C6466BE0}"/>
              </a:ext>
            </a:extLst>
          </p:cNvPr>
          <p:cNvSpPr txBox="1"/>
          <p:nvPr/>
        </p:nvSpPr>
        <p:spPr>
          <a:xfrm>
            <a:off x="6070600" y="1930399"/>
            <a:ext cx="50292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 dirty="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متقاضی پس از تایید پیامکی موبایل، محوطه (شرکت) را انتخاب می‌کند</a:t>
            </a:r>
            <a:endParaRPr lang="en-US" sz="1600" dirty="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4C4A29D-E971-3EB5-F639-C8EB77D2E01C}"/>
              </a:ext>
            </a:extLst>
          </p:cNvPr>
          <p:cNvSpPr/>
          <p:nvPr/>
        </p:nvSpPr>
        <p:spPr>
          <a:xfrm>
            <a:off x="11226800" y="2667000"/>
            <a:ext cx="457200" cy="4572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7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۲</a:t>
            </a:r>
            <a:endParaRPr lang="en-US" sz="17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188C40-8710-C660-4947-1ED88827A4B7}"/>
              </a:ext>
            </a:extLst>
          </p:cNvPr>
          <p:cNvSpPr txBox="1"/>
          <p:nvPr/>
        </p:nvSpPr>
        <p:spPr>
          <a:xfrm>
            <a:off x="6070600" y="2679700"/>
            <a:ext cx="5029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پیامک ثبت</a:t>
            </a:r>
            <a:endParaRPr lang="en-US" sz="19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3D571B-AF9E-A280-7A50-CF5334F7AE50}"/>
              </a:ext>
            </a:extLst>
          </p:cNvPr>
          <p:cNvSpPr txBox="1"/>
          <p:nvPr/>
        </p:nvSpPr>
        <p:spPr>
          <a:xfrm>
            <a:off x="6070600" y="3073399"/>
            <a:ext cx="50292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کد پیگیری بلافاصله برای متقاضی ارسال می‌شود</a:t>
            </a:r>
            <a:endParaRPr lang="en-US" sz="16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A2BC97F-BE5B-013F-31D0-B1807DE63624}"/>
              </a:ext>
            </a:extLst>
          </p:cNvPr>
          <p:cNvSpPr/>
          <p:nvPr/>
        </p:nvSpPr>
        <p:spPr>
          <a:xfrm>
            <a:off x="11226800" y="3810000"/>
            <a:ext cx="457200" cy="4572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7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۳</a:t>
            </a:r>
            <a:endParaRPr lang="en-US" sz="17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17E6B7-5D2E-1F42-9DB7-753514017FA8}"/>
              </a:ext>
            </a:extLst>
          </p:cNvPr>
          <p:cNvSpPr txBox="1"/>
          <p:nvPr/>
        </p:nvSpPr>
        <p:spPr>
          <a:xfrm>
            <a:off x="6070600" y="3822700"/>
            <a:ext cx="5029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 b="1" dirty="0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تعیین نوبت</a:t>
            </a:r>
            <a:endParaRPr lang="en-US" sz="1900" b="1" dirty="0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ACB49A-0BCF-FF39-C230-D87F40689FF5}"/>
              </a:ext>
            </a:extLst>
          </p:cNvPr>
          <p:cNvSpPr txBox="1"/>
          <p:nvPr/>
        </p:nvSpPr>
        <p:spPr>
          <a:xfrm>
            <a:off x="6070600" y="4216399"/>
            <a:ext cx="50292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کارشناس نوبت‌دهی، یکی از نوبت‌های خالی همان محوطه را تخصیص می‌دهد</a:t>
            </a:r>
            <a:endParaRPr lang="en-US" sz="16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1615107-2ED1-D16F-F1A1-73CEB002A449}"/>
              </a:ext>
            </a:extLst>
          </p:cNvPr>
          <p:cNvSpPr/>
          <p:nvPr/>
        </p:nvSpPr>
        <p:spPr>
          <a:xfrm>
            <a:off x="11226800" y="4953000"/>
            <a:ext cx="457200" cy="4572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7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۴</a:t>
            </a:r>
            <a:endParaRPr lang="en-US" sz="17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E15E90-02C3-AC8D-54E4-ADFF11DA32D0}"/>
              </a:ext>
            </a:extLst>
          </p:cNvPr>
          <p:cNvSpPr txBox="1"/>
          <p:nvPr/>
        </p:nvSpPr>
        <p:spPr>
          <a:xfrm>
            <a:off x="6070600" y="4965700"/>
            <a:ext cx="5029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پیامک نوبت</a:t>
            </a:r>
            <a:endParaRPr lang="en-US" sz="19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D8B1BD-3D26-39F5-2A3B-75C6525321A3}"/>
              </a:ext>
            </a:extLst>
          </p:cNvPr>
          <p:cNvSpPr txBox="1"/>
          <p:nvPr/>
        </p:nvSpPr>
        <p:spPr>
          <a:xfrm>
            <a:off x="6070600" y="5359399"/>
            <a:ext cx="50292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روز، تاریخ، ساعت و محوطه‌ی ارزیابی برای متقاضی ارسال می‌شود</a:t>
            </a:r>
            <a:endParaRPr lang="en-US" sz="16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DBD2FA-ECAA-4601-60F2-E80BEB6E6BC2}"/>
              </a:ext>
            </a:extLst>
          </p:cNvPr>
          <p:cNvSpPr txBox="1"/>
          <p:nvPr/>
        </p:nvSpPr>
        <p:spPr>
          <a:xfrm>
            <a:off x="5588000" y="6426200"/>
            <a:ext cx="609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سامانه احراز اصالت سند و قبض انبار · بنادر و دریانوردی هرمزگان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F1D6AAA-DCA9-52CE-626E-0907D6DD1E7B}"/>
              </a:ext>
            </a:extLst>
          </p:cNvPr>
          <p:cNvSpPr txBox="1"/>
          <p:nvPr/>
        </p:nvSpPr>
        <p:spPr>
          <a:xfrm>
            <a:off x="508000" y="6426200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۹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96070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BF47D7-F234-F2AA-01E3-12788900C6E9}"/>
              </a:ext>
            </a:extLst>
          </p:cNvPr>
          <p:cNvSpPr txBox="1"/>
          <p:nvPr/>
        </p:nvSpPr>
        <p:spPr>
          <a:xfrm>
            <a:off x="2540000" y="279400"/>
            <a:ext cx="9144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34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تعریف نوبت‌ها و ظرفیت</a:t>
            </a:r>
            <a:endParaRPr lang="en-US" sz="34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0CD9BB-9C77-EFFF-000B-FD9C65046778}"/>
              </a:ext>
            </a:extLst>
          </p:cNvPr>
          <p:cNvSpPr/>
          <p:nvPr/>
        </p:nvSpPr>
        <p:spPr>
          <a:xfrm>
            <a:off x="508000" y="4064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4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نوبت ارزیابی</a:t>
            </a:r>
            <a:endParaRPr lang="en-US" sz="14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E9A526-2A7D-0AD3-176C-63A2AF53BDAB}"/>
              </a:ext>
            </a:extLst>
          </p:cNvPr>
          <p:cNvSpPr/>
          <p:nvPr/>
        </p:nvSpPr>
        <p:spPr>
          <a:xfrm>
            <a:off x="6096000" y="1498600"/>
            <a:ext cx="5588000" cy="4470400"/>
          </a:xfrm>
          <a:prstGeom prst="roundRect">
            <a:avLst>
              <a:gd name="adj" fmla="val 4545"/>
            </a:avLst>
          </a:prstGeom>
          <a:solidFill>
            <a:srgbClr val="13294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D340CA-6887-78F5-BEE3-1E537045C5BD}"/>
              </a:ext>
            </a:extLst>
          </p:cNvPr>
          <p:cNvSpPr txBox="1"/>
          <p:nvPr/>
        </p:nvSpPr>
        <p:spPr>
          <a:xfrm>
            <a:off x="6350000" y="1701799"/>
            <a:ext cx="508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000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نمونه‌ی تنظیم یک محوطه</a:t>
            </a:r>
            <a:endParaRPr lang="en-US" sz="2000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968DE9-3C26-3464-1F1A-2C73E09EDFDB}"/>
              </a:ext>
            </a:extLst>
          </p:cNvPr>
          <p:cNvSpPr txBox="1"/>
          <p:nvPr/>
        </p:nvSpPr>
        <p:spPr>
          <a:xfrm>
            <a:off x="9652000" y="2235199"/>
            <a:ext cx="177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محوطه</a:t>
            </a:r>
            <a:endParaRPr lang="en-US" sz="16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9B71E4-EAC2-2661-FB24-D43B3780266B}"/>
              </a:ext>
            </a:extLst>
          </p:cNvPr>
          <p:cNvSpPr txBox="1"/>
          <p:nvPr/>
        </p:nvSpPr>
        <p:spPr>
          <a:xfrm>
            <a:off x="6350000" y="2235200"/>
            <a:ext cx="317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شرکت افق</a:t>
            </a:r>
            <a:endParaRPr lang="en-US" sz="1700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2B074-88B1-A1D6-A2CB-F03CB8C8718B}"/>
              </a:ext>
            </a:extLst>
          </p:cNvPr>
          <p:cNvSpPr txBox="1"/>
          <p:nvPr/>
        </p:nvSpPr>
        <p:spPr>
          <a:xfrm>
            <a:off x="9652000" y="2666999"/>
            <a:ext cx="177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بازه</a:t>
            </a:r>
            <a:endParaRPr lang="en-US" sz="16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E740DA-C6BC-2F3C-01AA-895510D9EFFC}"/>
              </a:ext>
            </a:extLst>
          </p:cNvPr>
          <p:cNvSpPr txBox="1"/>
          <p:nvPr/>
        </p:nvSpPr>
        <p:spPr>
          <a:xfrm>
            <a:off x="6350000" y="2667000"/>
            <a:ext cx="317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۱ تا ۳۰ آبان</a:t>
            </a:r>
            <a:endParaRPr lang="en-US" sz="1700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848ADC-9CDD-AEF4-E175-5345AF49429D}"/>
              </a:ext>
            </a:extLst>
          </p:cNvPr>
          <p:cNvSpPr txBox="1"/>
          <p:nvPr/>
        </p:nvSpPr>
        <p:spPr>
          <a:xfrm>
            <a:off x="9652000" y="3098799"/>
            <a:ext cx="177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ساعت</a:t>
            </a:r>
            <a:endParaRPr lang="en-US" sz="16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EFA339-48D3-E94D-6A41-FDC94DA25489}"/>
              </a:ext>
            </a:extLst>
          </p:cNvPr>
          <p:cNvSpPr txBox="1"/>
          <p:nvPr/>
        </p:nvSpPr>
        <p:spPr>
          <a:xfrm>
            <a:off x="6350000" y="3098800"/>
            <a:ext cx="317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۸:۰۰ تا ۱۴:۰۰</a:t>
            </a:r>
            <a:endParaRPr lang="en-US" sz="1700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89DF64-D1B2-12C2-7986-8AED04114769}"/>
              </a:ext>
            </a:extLst>
          </p:cNvPr>
          <p:cNvSpPr txBox="1"/>
          <p:nvPr/>
        </p:nvSpPr>
        <p:spPr>
          <a:xfrm>
            <a:off x="9652000" y="3530599"/>
            <a:ext cx="177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طول هر نوبت</a:t>
            </a:r>
            <a:endParaRPr lang="en-US" sz="16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811FAD-2D5F-A975-6AE7-ED0EBD02A126}"/>
              </a:ext>
            </a:extLst>
          </p:cNvPr>
          <p:cNvSpPr txBox="1"/>
          <p:nvPr/>
        </p:nvSpPr>
        <p:spPr>
          <a:xfrm>
            <a:off x="6350000" y="3530600"/>
            <a:ext cx="317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۳۰ دقیقه</a:t>
            </a:r>
            <a:endParaRPr lang="en-US" sz="1700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1A33C0-96CB-FFB6-C02D-92951E18F2BE}"/>
              </a:ext>
            </a:extLst>
          </p:cNvPr>
          <p:cNvSpPr txBox="1"/>
          <p:nvPr/>
        </p:nvSpPr>
        <p:spPr>
          <a:xfrm>
            <a:off x="9652000" y="3962399"/>
            <a:ext cx="177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ظرفیت هر نوبت</a:t>
            </a:r>
            <a:endParaRPr lang="en-US" sz="16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F95CFC-E3AE-3E05-69A4-FA8C86BD1A64}"/>
              </a:ext>
            </a:extLst>
          </p:cNvPr>
          <p:cNvSpPr txBox="1"/>
          <p:nvPr/>
        </p:nvSpPr>
        <p:spPr>
          <a:xfrm>
            <a:off x="6350000" y="3962400"/>
            <a:ext cx="317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۲ نفر</a:t>
            </a:r>
            <a:endParaRPr lang="en-US" sz="1700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FA0161-3631-F05A-A6BE-27C1A1A5EF13}"/>
              </a:ext>
            </a:extLst>
          </p:cNvPr>
          <p:cNvSpPr txBox="1"/>
          <p:nvPr/>
        </p:nvSpPr>
        <p:spPr>
          <a:xfrm>
            <a:off x="9652000" y="4419599"/>
            <a:ext cx="177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روزها</a:t>
            </a:r>
            <a:endParaRPr lang="en-US" sz="16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5E03E82-C4C8-A955-8DCF-F26E6B43F543}"/>
              </a:ext>
            </a:extLst>
          </p:cNvPr>
          <p:cNvSpPr/>
          <p:nvPr/>
        </p:nvSpPr>
        <p:spPr>
          <a:xfrm>
            <a:off x="9169400" y="4394200"/>
            <a:ext cx="330200" cy="3302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3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ش</a:t>
            </a:r>
            <a:endParaRPr lang="en-US" sz="13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213D557-2289-0899-C8CA-6CC603345CF5}"/>
              </a:ext>
            </a:extLst>
          </p:cNvPr>
          <p:cNvSpPr/>
          <p:nvPr/>
        </p:nvSpPr>
        <p:spPr>
          <a:xfrm>
            <a:off x="8763000" y="4394200"/>
            <a:ext cx="330200" cy="3302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3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ی</a:t>
            </a:r>
            <a:endParaRPr lang="en-US" sz="13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DAA3CAE-9074-5EE4-44DF-8C892317298B}"/>
              </a:ext>
            </a:extLst>
          </p:cNvPr>
          <p:cNvSpPr/>
          <p:nvPr/>
        </p:nvSpPr>
        <p:spPr>
          <a:xfrm>
            <a:off x="8356600" y="4394200"/>
            <a:ext cx="330200" cy="3302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3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د</a:t>
            </a:r>
            <a:endParaRPr lang="en-US" sz="13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9A29FBF-049F-7B0E-1C37-4EDC28346426}"/>
              </a:ext>
            </a:extLst>
          </p:cNvPr>
          <p:cNvSpPr/>
          <p:nvPr/>
        </p:nvSpPr>
        <p:spPr>
          <a:xfrm>
            <a:off x="7950200" y="4394200"/>
            <a:ext cx="330200" cy="3302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3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</a:t>
            </a:r>
            <a:endParaRPr lang="en-US" sz="13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C309894-4811-17EA-FDE6-32FD491D4017}"/>
              </a:ext>
            </a:extLst>
          </p:cNvPr>
          <p:cNvSpPr/>
          <p:nvPr/>
        </p:nvSpPr>
        <p:spPr>
          <a:xfrm>
            <a:off x="7543800" y="4394200"/>
            <a:ext cx="330200" cy="3302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3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چ</a:t>
            </a:r>
            <a:endParaRPr lang="en-US" sz="13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C233201-2F81-9079-E0F8-43CDECF5BF78}"/>
              </a:ext>
            </a:extLst>
          </p:cNvPr>
          <p:cNvSpPr/>
          <p:nvPr/>
        </p:nvSpPr>
        <p:spPr>
          <a:xfrm>
            <a:off x="7137400" y="4394200"/>
            <a:ext cx="330200" cy="330200"/>
          </a:xfrm>
          <a:prstGeom prst="ellipse">
            <a:avLst/>
          </a:prstGeom>
          <a:solidFill>
            <a:srgbClr val="1E3D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300" b="1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پ</a:t>
            </a:r>
            <a:endParaRPr lang="en-US" sz="1300" b="1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D93B15D-EAF9-0576-055D-E619F7A9BEEC}"/>
              </a:ext>
            </a:extLst>
          </p:cNvPr>
          <p:cNvSpPr/>
          <p:nvPr/>
        </p:nvSpPr>
        <p:spPr>
          <a:xfrm>
            <a:off x="6731000" y="4394200"/>
            <a:ext cx="330200" cy="330200"/>
          </a:xfrm>
          <a:prstGeom prst="ellipse">
            <a:avLst/>
          </a:prstGeom>
          <a:solidFill>
            <a:srgbClr val="1E3D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300" b="1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ج</a:t>
            </a:r>
            <a:endParaRPr lang="en-US" sz="1300" b="1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2B9E765-F39A-2D61-91AA-31B1ABF70DAA}"/>
              </a:ext>
            </a:extLst>
          </p:cNvPr>
          <p:cNvSpPr/>
          <p:nvPr/>
        </p:nvSpPr>
        <p:spPr>
          <a:xfrm>
            <a:off x="6350000" y="5029200"/>
            <a:ext cx="5080000" cy="711200"/>
          </a:xfrm>
          <a:prstGeom prst="roundRect">
            <a:avLst>
              <a:gd name="adj" fmla="val 21429"/>
            </a:avLst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9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= ۱۲ نوبت در روز · ظرفیت ۲۴ متقاضی</a:t>
            </a:r>
            <a:endParaRPr lang="en-US" sz="19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301F9E3-7F09-2F85-AD00-4EF6796A5EBA}"/>
              </a:ext>
            </a:extLst>
          </p:cNvPr>
          <p:cNvSpPr/>
          <p:nvPr/>
        </p:nvSpPr>
        <p:spPr>
          <a:xfrm>
            <a:off x="5029200" y="1600200"/>
            <a:ext cx="609600" cy="609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E510B79-E85C-FC72-C831-2366B683256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216" y="1728216"/>
            <a:ext cx="353568" cy="35356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7FCF045-4A9F-8AC2-09A7-F9F4300786D2}"/>
              </a:ext>
            </a:extLst>
          </p:cNvPr>
          <p:cNvSpPr txBox="1"/>
          <p:nvPr/>
        </p:nvSpPr>
        <p:spPr>
          <a:xfrm>
            <a:off x="508000" y="1625599"/>
            <a:ext cx="431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0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ساخت گروهی</a:t>
            </a:r>
            <a:endParaRPr lang="en-US" sz="20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426AD8-CA00-9579-5BCF-3A2D9B8B2F12}"/>
              </a:ext>
            </a:extLst>
          </p:cNvPr>
          <p:cNvSpPr txBox="1"/>
          <p:nvPr/>
        </p:nvSpPr>
        <p:spPr>
          <a:xfrm>
            <a:off x="508000" y="2057399"/>
            <a:ext cx="4318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با یک فرم، نوبت‌های یک ماه کامل ساخته می‌شود</a:t>
            </a:r>
            <a:endParaRPr lang="en-US" sz="16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82241FB-CA27-D020-2F1E-FC7989396C18}"/>
              </a:ext>
            </a:extLst>
          </p:cNvPr>
          <p:cNvSpPr/>
          <p:nvPr/>
        </p:nvSpPr>
        <p:spPr>
          <a:xfrm>
            <a:off x="5029200" y="3073400"/>
            <a:ext cx="609600" cy="609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198174-3E05-F95C-7BE7-DD887DA2D3B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216" y="3201416"/>
            <a:ext cx="353568" cy="35356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DD67BAE-0B2A-1DBD-657E-2C67896C5C8A}"/>
              </a:ext>
            </a:extLst>
          </p:cNvPr>
          <p:cNvSpPr txBox="1"/>
          <p:nvPr/>
        </p:nvSpPr>
        <p:spPr>
          <a:xfrm>
            <a:off x="508000" y="3098799"/>
            <a:ext cx="431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0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کنترل ظرفیت</a:t>
            </a:r>
            <a:endParaRPr lang="en-US" sz="20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C52AD5-36D7-6937-1B01-7DB226C65B64}"/>
              </a:ext>
            </a:extLst>
          </p:cNvPr>
          <p:cNvSpPr txBox="1"/>
          <p:nvPr/>
        </p:nvSpPr>
        <p:spPr>
          <a:xfrm>
            <a:off x="508000" y="3530599"/>
            <a:ext cx="4318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هنگام تخصیص، ظرفیت باقی‌مانده‌ی هر نوبت دیده می‌شود</a:t>
            </a:r>
            <a:endParaRPr lang="en-US" sz="16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66A4B1C-3A84-6E37-3D7C-3410FEF8BAD3}"/>
              </a:ext>
            </a:extLst>
          </p:cNvPr>
          <p:cNvSpPr/>
          <p:nvPr/>
        </p:nvSpPr>
        <p:spPr>
          <a:xfrm>
            <a:off x="5029200" y="4546600"/>
            <a:ext cx="609600" cy="609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9368B21-7F33-C134-E30B-49EB286EFB9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216" y="4674616"/>
            <a:ext cx="353568" cy="35356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3D1FFBF-0D41-17FA-1DD5-E62218153BC0}"/>
              </a:ext>
            </a:extLst>
          </p:cNvPr>
          <p:cNvSpPr txBox="1"/>
          <p:nvPr/>
        </p:nvSpPr>
        <p:spPr>
          <a:xfrm>
            <a:off x="508000" y="4571999"/>
            <a:ext cx="431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0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بدون تداخل</a:t>
            </a:r>
            <a:endParaRPr lang="en-US" sz="20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33C787-2475-5BEB-4DB3-E24CD9282CC3}"/>
              </a:ext>
            </a:extLst>
          </p:cNvPr>
          <p:cNvSpPr txBox="1"/>
          <p:nvPr/>
        </p:nvSpPr>
        <p:spPr>
          <a:xfrm>
            <a:off x="508000" y="5003799"/>
            <a:ext cx="4318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6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نوبت تکراری یا گذشته ساخته نمی‌شود</a:t>
            </a:r>
            <a:endParaRPr lang="en-US" sz="16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34A592-123E-AFB2-46A5-E99D2CC16500}"/>
              </a:ext>
            </a:extLst>
          </p:cNvPr>
          <p:cNvSpPr txBox="1"/>
          <p:nvPr/>
        </p:nvSpPr>
        <p:spPr>
          <a:xfrm>
            <a:off x="5588000" y="6426200"/>
            <a:ext cx="609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سامانه احراز اصالت سند و قبض انبار · بنادر و دریانوردی هرمزگان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73B61E-E49D-8DAE-AC4E-8B082FC9BE81}"/>
              </a:ext>
            </a:extLst>
          </p:cNvPr>
          <p:cNvSpPr txBox="1"/>
          <p:nvPr/>
        </p:nvSpPr>
        <p:spPr>
          <a:xfrm>
            <a:off x="508000" y="6426200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۱۰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05589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A5BF02-68F2-F1DF-AB8A-CD4E40D7459F}"/>
              </a:ext>
            </a:extLst>
          </p:cNvPr>
          <p:cNvSpPr txBox="1"/>
          <p:nvPr/>
        </p:nvSpPr>
        <p:spPr>
          <a:xfrm>
            <a:off x="2540000" y="279400"/>
            <a:ext cx="9144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34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پیگیری درخواست، بدون تماس تلفنی</a:t>
            </a:r>
            <a:endParaRPr lang="en-US" sz="34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B226D3-204E-D5B7-E8B4-52E8233176F0}"/>
              </a:ext>
            </a:extLst>
          </p:cNvPr>
          <p:cNvSpPr txBox="1"/>
          <p:nvPr/>
        </p:nvSpPr>
        <p:spPr>
          <a:xfrm>
            <a:off x="508000" y="965199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متقاضی با شماره موبایل (و در صورت تمایل کد پیگیری) وضعیت درخواست‌هایش را می‌بیند</a:t>
            </a:r>
            <a:endParaRPr lang="en-US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2941416-6EB0-E6D6-4C0E-6B020C6E0D0E}"/>
              </a:ext>
            </a:extLst>
          </p:cNvPr>
          <p:cNvSpPr/>
          <p:nvPr/>
        </p:nvSpPr>
        <p:spPr>
          <a:xfrm>
            <a:off x="487680" y="2308860"/>
            <a:ext cx="38100" cy="221615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FED308-F73F-B09C-50D3-3CF2A685076D}"/>
              </a:ext>
            </a:extLst>
          </p:cNvPr>
          <p:cNvSpPr/>
          <p:nvPr/>
        </p:nvSpPr>
        <p:spPr>
          <a:xfrm>
            <a:off x="487680" y="2663444"/>
            <a:ext cx="38100" cy="398907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3E857A-D0D6-1DB3-B8DF-17578D9614DB}"/>
              </a:ext>
            </a:extLst>
          </p:cNvPr>
          <p:cNvSpPr/>
          <p:nvPr/>
        </p:nvSpPr>
        <p:spPr>
          <a:xfrm>
            <a:off x="487680" y="3150997"/>
            <a:ext cx="38100" cy="398907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A6F19A-5C9B-9AF4-1399-473C2582EA55}"/>
              </a:ext>
            </a:extLst>
          </p:cNvPr>
          <p:cNvSpPr/>
          <p:nvPr/>
        </p:nvSpPr>
        <p:spPr>
          <a:xfrm>
            <a:off x="2623820" y="2752090"/>
            <a:ext cx="38100" cy="576199"/>
          </a:xfrm>
          <a:prstGeom prst="roundRect">
            <a:avLst>
              <a:gd name="adj" fmla="val 500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F9E7CB-47AB-000B-2724-95C707EA1B54}"/>
              </a:ext>
            </a:extLst>
          </p:cNvPr>
          <p:cNvSpPr/>
          <p:nvPr/>
        </p:nvSpPr>
        <p:spPr>
          <a:xfrm>
            <a:off x="508000" y="1422400"/>
            <a:ext cx="2133600" cy="4432300"/>
          </a:xfrm>
          <a:prstGeom prst="roundRect">
            <a:avLst>
              <a:gd name="adj" fmla="val 16500"/>
            </a:avLst>
          </a:prstGeom>
          <a:solidFill>
            <a:srgbClr val="B9C5D4"/>
          </a:solidFill>
          <a:ln w="12700" cap="flat" cmpd="sng" algn="ctr">
            <a:noFill/>
            <a:prstDash val="solid"/>
            <a:miter lim="800000"/>
          </a:ln>
          <a:effectLst>
            <a:outerShdw blurRad="203200" dist="88900" dir="5400000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54AB59-EBE7-01F9-4F6A-D9C2069739DD}"/>
              </a:ext>
            </a:extLst>
          </p:cNvPr>
          <p:cNvSpPr/>
          <p:nvPr/>
        </p:nvSpPr>
        <p:spPr>
          <a:xfrm>
            <a:off x="535940" y="1450340"/>
            <a:ext cx="2077720" cy="4376420"/>
          </a:xfrm>
          <a:prstGeom prst="roundRect">
            <a:avLst>
              <a:gd name="adj" fmla="val 15917"/>
            </a:avLst>
          </a:prstGeom>
          <a:solidFill>
            <a:srgbClr val="0A0A0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389A833-E695-64FE-53E8-F9F081B4338E}"/>
              </a:ext>
            </a:extLst>
          </p:cNvPr>
          <p:cNvSpPr/>
          <p:nvPr/>
        </p:nvSpPr>
        <p:spPr>
          <a:xfrm>
            <a:off x="579120" y="1493520"/>
            <a:ext cx="1991360" cy="4290060"/>
          </a:xfrm>
          <a:prstGeom prst="roundRect">
            <a:avLst>
              <a:gd name="adj" fmla="val 15536"/>
            </a:avLst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EE6BA5-59AA-1F7D-E685-F13923701CFA}"/>
              </a:ext>
            </a:extLst>
          </p:cNvPr>
          <p:cNvSpPr/>
          <p:nvPr/>
        </p:nvSpPr>
        <p:spPr>
          <a:xfrm>
            <a:off x="1246226" y="1562161"/>
            <a:ext cx="657148" cy="189179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6BEF9B-46F3-F5C1-E7CB-5114FD93EB55}"/>
              </a:ext>
            </a:extLst>
          </p:cNvPr>
          <p:cNvSpPr txBox="1"/>
          <p:nvPr/>
        </p:nvSpPr>
        <p:spPr>
          <a:xfrm>
            <a:off x="758342" y="1646674"/>
            <a:ext cx="438099" cy="18917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784" b="1">
                <a:solidFill>
                  <a:srgbClr val="000000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12:04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73B28C7-E0FD-AF66-8AA7-B79303DF4E13}"/>
              </a:ext>
            </a:extLst>
          </p:cNvPr>
          <p:cNvSpPr/>
          <p:nvPr/>
        </p:nvSpPr>
        <p:spPr>
          <a:xfrm>
            <a:off x="1973072" y="1651075"/>
            <a:ext cx="21590" cy="4729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965BA12-4E63-D717-AD9B-1E09368FC60E}"/>
              </a:ext>
            </a:extLst>
          </p:cNvPr>
          <p:cNvSpPr/>
          <p:nvPr/>
        </p:nvSpPr>
        <p:spPr>
          <a:xfrm>
            <a:off x="2006092" y="1626482"/>
            <a:ext cx="21590" cy="71888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A3ABE8-BE45-43EC-BFA6-D29353A1F648}"/>
              </a:ext>
            </a:extLst>
          </p:cNvPr>
          <p:cNvSpPr/>
          <p:nvPr/>
        </p:nvSpPr>
        <p:spPr>
          <a:xfrm>
            <a:off x="2039112" y="1601889"/>
            <a:ext cx="21590" cy="96481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E62F217-BCF4-D950-B0C6-1D109D689093}"/>
              </a:ext>
            </a:extLst>
          </p:cNvPr>
          <p:cNvSpPr/>
          <p:nvPr/>
        </p:nvSpPr>
        <p:spPr>
          <a:xfrm>
            <a:off x="2072132" y="1577295"/>
            <a:ext cx="21590" cy="121075"/>
          </a:xfrm>
          <a:prstGeom prst="roundRect">
            <a:avLst>
              <a:gd name="adj" fmla="val 3529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03D0F77-DB86-91BA-B083-2FC5E002173F}"/>
              </a:ext>
            </a:extLst>
          </p:cNvPr>
          <p:cNvSpPr/>
          <p:nvPr/>
        </p:nvSpPr>
        <p:spPr>
          <a:xfrm>
            <a:off x="2172208" y="1615131"/>
            <a:ext cx="169266" cy="88914"/>
          </a:xfrm>
          <a:prstGeom prst="roundRect">
            <a:avLst>
              <a:gd name="adj" fmla="val 31424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502" b="1">
                <a:solidFill>
                  <a:srgbClr val="FFFFFF"/>
                </a:solidFill>
                <a:latin typeface="Segoe UI" panose="020B0502040204020203" pitchFamily="34" charset="0"/>
                <a:cs typeface="Tahoma" panose="020B0604030504040204" pitchFamily="34" charset="0"/>
              </a:rPr>
              <a:t>89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69C5E70-BB29-4E37-7673-C524D216872E}"/>
              </a:ext>
            </a:extLst>
          </p:cNvPr>
          <p:cNvSpPr/>
          <p:nvPr/>
        </p:nvSpPr>
        <p:spPr>
          <a:xfrm>
            <a:off x="2346554" y="1641616"/>
            <a:ext cx="13970" cy="37836"/>
          </a:xfrm>
          <a:prstGeom prst="roundRect">
            <a:avLst>
              <a:gd name="adj" fmla="val 45455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BEF8C83-A251-D532-4A82-D43201EA3082}"/>
              </a:ext>
            </a:extLst>
          </p:cNvPr>
          <p:cNvSpPr/>
          <p:nvPr/>
        </p:nvSpPr>
        <p:spPr>
          <a:xfrm>
            <a:off x="1216355" y="5689199"/>
            <a:ext cx="716890" cy="330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FD3F80-C7EB-5181-316B-8E0DC6485ADC}"/>
              </a:ext>
            </a:extLst>
          </p:cNvPr>
          <p:cNvSpPr txBox="1"/>
          <p:nvPr/>
        </p:nvSpPr>
        <p:spPr>
          <a:xfrm>
            <a:off x="381000" y="5918199"/>
            <a:ext cx="2387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sz="13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صفحه‌ی پیگیری درخواست</a:t>
            </a:r>
            <a:endParaRPr lang="en-US" sz="13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AC25AB7-4672-4B5A-46CD-81C34F6E48E6}"/>
              </a:ext>
            </a:extLst>
          </p:cNvPr>
          <p:cNvSpPr/>
          <p:nvPr/>
        </p:nvSpPr>
        <p:spPr>
          <a:xfrm>
            <a:off x="9017000" y="1498600"/>
            <a:ext cx="2667000" cy="1219200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A011705-BA01-2FEE-1487-93D863B5DF70}"/>
              </a:ext>
            </a:extLst>
          </p:cNvPr>
          <p:cNvSpPr/>
          <p:nvPr/>
        </p:nvSpPr>
        <p:spPr>
          <a:xfrm>
            <a:off x="11049000" y="1625600"/>
            <a:ext cx="457200" cy="4572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7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۱</a:t>
            </a:r>
            <a:endParaRPr lang="en-US" sz="17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A16C6D-E931-2192-D80B-57B280B4CEB2}"/>
              </a:ext>
            </a:extLst>
          </p:cNvPr>
          <p:cNvSpPr txBox="1"/>
          <p:nvPr/>
        </p:nvSpPr>
        <p:spPr>
          <a:xfrm>
            <a:off x="9194800" y="1650999"/>
            <a:ext cx="177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شماره موبایل</a:t>
            </a:r>
            <a:endParaRPr lang="en-US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C2423E-532C-28D2-1B1B-29A394589D9E}"/>
              </a:ext>
            </a:extLst>
          </p:cNvPr>
          <p:cNvSpPr txBox="1"/>
          <p:nvPr/>
        </p:nvSpPr>
        <p:spPr>
          <a:xfrm>
            <a:off x="9194800" y="2133600"/>
            <a:ext cx="231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4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همان شماره‌ی ثبت درخواست</a:t>
            </a:r>
            <a:endParaRPr lang="en-US" sz="14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5" name="Arrow: Left 24">
            <a:extLst>
              <a:ext uri="{FF2B5EF4-FFF2-40B4-BE49-F238E27FC236}">
                <a16:creationId xmlns:a16="http://schemas.microsoft.com/office/drawing/2014/main" id="{8C5C22E0-9DAF-30F4-EBE2-F2864560C989}"/>
              </a:ext>
            </a:extLst>
          </p:cNvPr>
          <p:cNvSpPr/>
          <p:nvPr/>
        </p:nvSpPr>
        <p:spPr>
          <a:xfrm>
            <a:off x="8775700" y="1993900"/>
            <a:ext cx="152400" cy="228600"/>
          </a:xfrm>
          <a:prstGeom prst="leftArrow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01667D8-D373-0374-48B5-688148D867E8}"/>
              </a:ext>
            </a:extLst>
          </p:cNvPr>
          <p:cNvSpPr/>
          <p:nvPr/>
        </p:nvSpPr>
        <p:spPr>
          <a:xfrm>
            <a:off x="6032500" y="1498600"/>
            <a:ext cx="2667000" cy="1219200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70E243-83AE-0146-535D-33AC909FB948}"/>
              </a:ext>
            </a:extLst>
          </p:cNvPr>
          <p:cNvSpPr/>
          <p:nvPr/>
        </p:nvSpPr>
        <p:spPr>
          <a:xfrm>
            <a:off x="8064500" y="1625600"/>
            <a:ext cx="457200" cy="4572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7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۲</a:t>
            </a:r>
            <a:endParaRPr lang="en-US" sz="17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C515EA-BD9F-A04E-CC77-68C84C4E9099}"/>
              </a:ext>
            </a:extLst>
          </p:cNvPr>
          <p:cNvSpPr txBox="1"/>
          <p:nvPr/>
        </p:nvSpPr>
        <p:spPr>
          <a:xfrm>
            <a:off x="6210300" y="1650999"/>
            <a:ext cx="177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کد تایید پیامکی</a:t>
            </a:r>
            <a:endParaRPr lang="en-US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200729-EB0D-DE7E-BD58-F25FD84D24A8}"/>
              </a:ext>
            </a:extLst>
          </p:cNvPr>
          <p:cNvSpPr txBox="1"/>
          <p:nvPr/>
        </p:nvSpPr>
        <p:spPr>
          <a:xfrm>
            <a:off x="6210300" y="2133600"/>
            <a:ext cx="231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4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برای اطمینان از مالکیت شماره</a:t>
            </a:r>
            <a:endParaRPr lang="en-US" sz="14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0" name="Arrow: Left 29">
            <a:extLst>
              <a:ext uri="{FF2B5EF4-FFF2-40B4-BE49-F238E27FC236}">
                <a16:creationId xmlns:a16="http://schemas.microsoft.com/office/drawing/2014/main" id="{78FD7E5E-BB15-C80D-C8C3-9514EA940336}"/>
              </a:ext>
            </a:extLst>
          </p:cNvPr>
          <p:cNvSpPr/>
          <p:nvPr/>
        </p:nvSpPr>
        <p:spPr>
          <a:xfrm>
            <a:off x="5791200" y="1993900"/>
            <a:ext cx="152400" cy="228600"/>
          </a:xfrm>
          <a:prstGeom prst="leftArrow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516D2EF-1B5E-6B1B-4DCA-B19DE1BC7753}"/>
              </a:ext>
            </a:extLst>
          </p:cNvPr>
          <p:cNvSpPr/>
          <p:nvPr/>
        </p:nvSpPr>
        <p:spPr>
          <a:xfrm>
            <a:off x="3048000" y="1498600"/>
            <a:ext cx="2667000" cy="1219200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0B04696-2FCF-40E4-D447-F3CF91F1FB86}"/>
              </a:ext>
            </a:extLst>
          </p:cNvPr>
          <p:cNvSpPr/>
          <p:nvPr/>
        </p:nvSpPr>
        <p:spPr>
          <a:xfrm>
            <a:off x="5080000" y="1625600"/>
            <a:ext cx="457200" cy="4572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sz="17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۳</a:t>
            </a:r>
            <a:endParaRPr lang="en-US" sz="17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94EFB2-C59B-5F0C-5091-7070C9AFA2BF}"/>
              </a:ext>
            </a:extLst>
          </p:cNvPr>
          <p:cNvSpPr txBox="1"/>
          <p:nvPr/>
        </p:nvSpPr>
        <p:spPr>
          <a:xfrm>
            <a:off x="3225800" y="1650999"/>
            <a:ext cx="177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مشاهده‌ی وضعیت</a:t>
            </a:r>
            <a:endParaRPr lang="en-US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E1380B-B950-A24F-454A-E85157E8384D}"/>
              </a:ext>
            </a:extLst>
          </p:cNvPr>
          <p:cNvSpPr txBox="1"/>
          <p:nvPr/>
        </p:nvSpPr>
        <p:spPr>
          <a:xfrm>
            <a:off x="3225800" y="2133600"/>
            <a:ext cx="231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4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همه‌ی درخواست‌های این شماره</a:t>
            </a:r>
            <a:endParaRPr lang="en-US" sz="14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8BAA49-5FDF-80BD-7529-1C05EE8CB48A}"/>
              </a:ext>
            </a:extLst>
          </p:cNvPr>
          <p:cNvSpPr txBox="1"/>
          <p:nvPr/>
        </p:nvSpPr>
        <p:spPr>
          <a:xfrm>
            <a:off x="3048000" y="2946399"/>
            <a:ext cx="863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0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آنچه متقاضی می‌بیند</a:t>
            </a:r>
            <a:endParaRPr lang="en-US" sz="20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BC29FD8-ABA3-4B9D-66AB-EA5C8439B43B}"/>
              </a:ext>
            </a:extLst>
          </p:cNvPr>
          <p:cNvSpPr/>
          <p:nvPr/>
        </p:nvSpPr>
        <p:spPr>
          <a:xfrm>
            <a:off x="9017000" y="3479800"/>
            <a:ext cx="2667000" cy="1117600"/>
          </a:xfrm>
          <a:prstGeom prst="roundRect">
            <a:avLst>
              <a:gd name="adj" fmla="val 15909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79AFD5C-7269-FF10-0A66-97D3F9336CE8}"/>
              </a:ext>
            </a:extLst>
          </p:cNvPr>
          <p:cNvSpPr/>
          <p:nvPr/>
        </p:nvSpPr>
        <p:spPr>
          <a:xfrm>
            <a:off x="11049000" y="3784600"/>
            <a:ext cx="508000" cy="5080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02BC7B9-0515-6FE5-29EA-6DACF878256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680" y="3891280"/>
            <a:ext cx="294640" cy="29464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8FFF188-F357-8BA6-6BCF-E911DBB40F28}"/>
              </a:ext>
            </a:extLst>
          </p:cNvPr>
          <p:cNvSpPr txBox="1"/>
          <p:nvPr/>
        </p:nvSpPr>
        <p:spPr>
          <a:xfrm>
            <a:off x="9194800" y="3657600"/>
            <a:ext cx="1803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نوع درخواست</a:t>
            </a:r>
            <a:endParaRPr lang="en-US" sz="17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E20221-4A6E-4891-CF39-B88A32C01198}"/>
              </a:ext>
            </a:extLst>
          </p:cNvPr>
          <p:cNvSpPr txBox="1"/>
          <p:nvPr/>
        </p:nvSpPr>
        <p:spPr>
          <a:xfrm>
            <a:off x="9194800" y="4063999"/>
            <a:ext cx="1803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3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قبض انبار یا نوبت ارزیابی</a:t>
            </a:r>
            <a:endParaRPr lang="en-US" sz="13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0820F18-2BC1-68CA-F689-8F926F14EB93}"/>
              </a:ext>
            </a:extLst>
          </p:cNvPr>
          <p:cNvSpPr/>
          <p:nvPr/>
        </p:nvSpPr>
        <p:spPr>
          <a:xfrm>
            <a:off x="6032500" y="3479800"/>
            <a:ext cx="2667000" cy="1117600"/>
          </a:xfrm>
          <a:prstGeom prst="roundRect">
            <a:avLst>
              <a:gd name="adj" fmla="val 15909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C9D39A5-B75C-F580-7E59-74ABF52770E3}"/>
              </a:ext>
            </a:extLst>
          </p:cNvPr>
          <p:cNvSpPr/>
          <p:nvPr/>
        </p:nvSpPr>
        <p:spPr>
          <a:xfrm>
            <a:off x="8064500" y="3784600"/>
            <a:ext cx="508000" cy="5080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AD48B56-F429-ABB3-F050-C29B0D468BB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1180" y="3891280"/>
            <a:ext cx="294640" cy="29464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F38FD814-8231-1261-8DD4-95396BAA9DA8}"/>
              </a:ext>
            </a:extLst>
          </p:cNvPr>
          <p:cNvSpPr txBox="1"/>
          <p:nvPr/>
        </p:nvSpPr>
        <p:spPr>
          <a:xfrm>
            <a:off x="6210300" y="3657600"/>
            <a:ext cx="1803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وضعیت</a:t>
            </a:r>
            <a:endParaRPr lang="en-US" sz="17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696E6AE-8C71-9D9A-615D-3884C02A4B16}"/>
              </a:ext>
            </a:extLst>
          </p:cNvPr>
          <p:cNvSpPr txBox="1"/>
          <p:nvPr/>
        </p:nvSpPr>
        <p:spPr>
          <a:xfrm>
            <a:off x="6210300" y="4063999"/>
            <a:ext cx="1803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3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در انتظار بررسی، تایید یا رد</a:t>
            </a:r>
            <a:endParaRPr lang="en-US" sz="13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A70841B-F876-E968-1D12-400C12DAC5AA}"/>
              </a:ext>
            </a:extLst>
          </p:cNvPr>
          <p:cNvSpPr/>
          <p:nvPr/>
        </p:nvSpPr>
        <p:spPr>
          <a:xfrm>
            <a:off x="3048000" y="3479800"/>
            <a:ext cx="2667000" cy="1117600"/>
          </a:xfrm>
          <a:prstGeom prst="roundRect">
            <a:avLst>
              <a:gd name="adj" fmla="val 15909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D6B31A3-D566-987F-8B2F-3115E26AD664}"/>
              </a:ext>
            </a:extLst>
          </p:cNvPr>
          <p:cNvSpPr/>
          <p:nvPr/>
        </p:nvSpPr>
        <p:spPr>
          <a:xfrm>
            <a:off x="5080000" y="3784600"/>
            <a:ext cx="508000" cy="5080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143B79C-2551-1DBB-334A-EDC09B76513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680" y="3891280"/>
            <a:ext cx="294640" cy="29464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89155EB0-7430-A725-9BE6-90C87E3741A7}"/>
              </a:ext>
            </a:extLst>
          </p:cNvPr>
          <p:cNvSpPr txBox="1"/>
          <p:nvPr/>
        </p:nvSpPr>
        <p:spPr>
          <a:xfrm>
            <a:off x="3225800" y="3657600"/>
            <a:ext cx="1803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شرکت / محوطه</a:t>
            </a:r>
            <a:endParaRPr lang="en-US" sz="17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EB73868-7D29-0ED2-78E9-A7215E819AE6}"/>
              </a:ext>
            </a:extLst>
          </p:cNvPr>
          <p:cNvSpPr txBox="1"/>
          <p:nvPr/>
        </p:nvSpPr>
        <p:spPr>
          <a:xfrm>
            <a:off x="3225800" y="4063999"/>
            <a:ext cx="1803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3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شرکت مربوط به درخواست</a:t>
            </a:r>
            <a:endParaRPr lang="en-US" sz="13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418FDA8-432D-3DBF-54A9-700D5D3A6783}"/>
              </a:ext>
            </a:extLst>
          </p:cNvPr>
          <p:cNvSpPr/>
          <p:nvPr/>
        </p:nvSpPr>
        <p:spPr>
          <a:xfrm>
            <a:off x="9017000" y="4724400"/>
            <a:ext cx="2667000" cy="1117600"/>
          </a:xfrm>
          <a:prstGeom prst="roundRect">
            <a:avLst>
              <a:gd name="adj" fmla="val 15909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DF06ECC-C4DC-F5E7-6A52-2E0893B305F8}"/>
              </a:ext>
            </a:extLst>
          </p:cNvPr>
          <p:cNvSpPr/>
          <p:nvPr/>
        </p:nvSpPr>
        <p:spPr>
          <a:xfrm>
            <a:off x="11049000" y="5029200"/>
            <a:ext cx="508000" cy="5080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A23A4C4F-83AB-684C-E0C9-1C7133E5997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680" y="5135880"/>
            <a:ext cx="294640" cy="29464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F6F546C3-B53F-9F4F-6BDA-9A7A9A8365B6}"/>
              </a:ext>
            </a:extLst>
          </p:cNvPr>
          <p:cNvSpPr txBox="1"/>
          <p:nvPr/>
        </p:nvSpPr>
        <p:spPr>
          <a:xfrm>
            <a:off x="9194800" y="4902200"/>
            <a:ext cx="1803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زمان نوبت</a:t>
            </a:r>
            <a:endParaRPr lang="en-US" sz="17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8492792-CD76-45F1-FB16-C93914EC6364}"/>
              </a:ext>
            </a:extLst>
          </p:cNvPr>
          <p:cNvSpPr txBox="1"/>
          <p:nvPr/>
        </p:nvSpPr>
        <p:spPr>
          <a:xfrm>
            <a:off x="9194800" y="5308599"/>
            <a:ext cx="1803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3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تاریخ و ساعت ارزیابی</a:t>
            </a:r>
            <a:endParaRPr lang="en-US" sz="13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ED3E310-ACE1-26A2-50A0-1938A18DFCAD}"/>
              </a:ext>
            </a:extLst>
          </p:cNvPr>
          <p:cNvSpPr/>
          <p:nvPr/>
        </p:nvSpPr>
        <p:spPr>
          <a:xfrm>
            <a:off x="6032500" y="4724400"/>
            <a:ext cx="2667000" cy="1117600"/>
          </a:xfrm>
          <a:prstGeom prst="roundRect">
            <a:avLst>
              <a:gd name="adj" fmla="val 15909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662649A-154C-630F-717B-F2E73EA1BE84}"/>
              </a:ext>
            </a:extLst>
          </p:cNvPr>
          <p:cNvSpPr/>
          <p:nvPr/>
        </p:nvSpPr>
        <p:spPr>
          <a:xfrm>
            <a:off x="8064500" y="5029200"/>
            <a:ext cx="508000" cy="5080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EF9846D-6B14-B6C1-DF04-F26D031477C2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1180" y="5135880"/>
            <a:ext cx="294640" cy="29464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FB10C622-D2F9-A80D-491C-F412D94ADB9E}"/>
              </a:ext>
            </a:extLst>
          </p:cNvPr>
          <p:cNvSpPr txBox="1"/>
          <p:nvPr/>
        </p:nvSpPr>
        <p:spPr>
          <a:xfrm>
            <a:off x="6210300" y="4902200"/>
            <a:ext cx="1803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دلیل رد</a:t>
            </a:r>
            <a:endParaRPr lang="en-US" sz="17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C31EA76-2046-1E1F-1878-39006BB38E2B}"/>
              </a:ext>
            </a:extLst>
          </p:cNvPr>
          <p:cNvSpPr txBox="1"/>
          <p:nvPr/>
        </p:nvSpPr>
        <p:spPr>
          <a:xfrm>
            <a:off x="6210300" y="5308599"/>
            <a:ext cx="1803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3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در صورت رد درخواست</a:t>
            </a:r>
            <a:endParaRPr lang="en-US" sz="13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E42E2CA-A685-2702-CAB9-AA7DE035D119}"/>
              </a:ext>
            </a:extLst>
          </p:cNvPr>
          <p:cNvSpPr/>
          <p:nvPr/>
        </p:nvSpPr>
        <p:spPr>
          <a:xfrm>
            <a:off x="3048000" y="4724400"/>
            <a:ext cx="2667000" cy="1117600"/>
          </a:xfrm>
          <a:prstGeom prst="roundRect">
            <a:avLst>
              <a:gd name="adj" fmla="val 15909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E64EC7A-6FBA-5178-08B1-F7204DFA4F1E}"/>
              </a:ext>
            </a:extLst>
          </p:cNvPr>
          <p:cNvSpPr/>
          <p:nvPr/>
        </p:nvSpPr>
        <p:spPr>
          <a:xfrm>
            <a:off x="5080000" y="5029200"/>
            <a:ext cx="508000" cy="5080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4F3451C8-2552-F848-0086-4B1BD7F84D88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680" y="5135880"/>
            <a:ext cx="294640" cy="29464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9DC0B0D7-00F1-00E1-66F0-F72DB0030AAD}"/>
              </a:ext>
            </a:extLst>
          </p:cNvPr>
          <p:cNvSpPr txBox="1"/>
          <p:nvPr/>
        </p:nvSpPr>
        <p:spPr>
          <a:xfrm>
            <a:off x="3225800" y="4902200"/>
            <a:ext cx="1803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7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کارشناس مربوطه</a:t>
            </a:r>
            <a:endParaRPr lang="en-US" sz="17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4C4CEC8-EECB-8DC2-5F63-10D402B2FCD6}"/>
              </a:ext>
            </a:extLst>
          </p:cNvPr>
          <p:cNvSpPr txBox="1"/>
          <p:nvPr/>
        </p:nvSpPr>
        <p:spPr>
          <a:xfrm>
            <a:off x="3225800" y="5308599"/>
            <a:ext cx="1803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3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کارشناس بررسی‌کننده</a:t>
            </a:r>
            <a:endParaRPr lang="en-US" sz="13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AB8133-CB51-99EF-66B3-86BDB381F058}"/>
              </a:ext>
            </a:extLst>
          </p:cNvPr>
          <p:cNvSpPr txBox="1"/>
          <p:nvPr/>
        </p:nvSpPr>
        <p:spPr>
          <a:xfrm>
            <a:off x="5588000" y="6426200"/>
            <a:ext cx="609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سامانه احراز اصالت سند و قبض انبار · بنادر و دریانوردی هرمزگان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2222A47-9CE7-7029-E4B9-CC0081DED771}"/>
              </a:ext>
            </a:extLst>
          </p:cNvPr>
          <p:cNvSpPr txBox="1"/>
          <p:nvPr/>
        </p:nvSpPr>
        <p:spPr>
          <a:xfrm>
            <a:off x="508000" y="6426200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۱۲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10937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184FEF-D585-34B5-0B12-B6E458B8BC77}"/>
              </a:ext>
            </a:extLst>
          </p:cNvPr>
          <p:cNvSpPr txBox="1"/>
          <p:nvPr/>
        </p:nvSpPr>
        <p:spPr>
          <a:xfrm>
            <a:off x="2540000" y="279400"/>
            <a:ext cx="9144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34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گزارش‌ها و امنیت</a:t>
            </a:r>
            <a:endParaRPr lang="en-US" sz="34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0D0751-6C1C-C1B5-5AD4-08F3738897E5}"/>
              </a:ext>
            </a:extLst>
          </p:cNvPr>
          <p:cNvSpPr txBox="1"/>
          <p:nvPr/>
        </p:nvSpPr>
        <p:spPr>
          <a:xfrm>
            <a:off x="508000" y="965199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دید مدیریتی بر کار کارشناسان، و حفاظت از اطلاعات متقاضیان</a:t>
            </a:r>
            <a:endParaRPr lang="en-US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9F71B4-3222-14A9-D850-CBE6876ADAA0}"/>
              </a:ext>
            </a:extLst>
          </p:cNvPr>
          <p:cNvSpPr/>
          <p:nvPr/>
        </p:nvSpPr>
        <p:spPr>
          <a:xfrm>
            <a:off x="6223000" y="1498600"/>
            <a:ext cx="5461000" cy="4470400"/>
          </a:xfrm>
          <a:prstGeom prst="roundRect">
            <a:avLst>
              <a:gd name="adj" fmla="val 4545"/>
            </a:avLst>
          </a:prstGeom>
          <a:solidFill>
            <a:srgbClr val="13294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0D8BC6-C5CD-C42F-CD70-24203E0EACA4}"/>
              </a:ext>
            </a:extLst>
          </p:cNvPr>
          <p:cNvSpPr/>
          <p:nvPr/>
        </p:nvSpPr>
        <p:spPr>
          <a:xfrm>
            <a:off x="10820400" y="1727200"/>
            <a:ext cx="609600" cy="6096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C650D3-9642-5C18-E306-78D45905D56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8416" y="1855216"/>
            <a:ext cx="353568" cy="3535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12FCE2-49AF-D33F-C74D-46CDCA5CB8CE}"/>
              </a:ext>
            </a:extLst>
          </p:cNvPr>
          <p:cNvSpPr txBox="1"/>
          <p:nvPr/>
        </p:nvSpPr>
        <p:spPr>
          <a:xfrm>
            <a:off x="6604000" y="1828800"/>
            <a:ext cx="406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2200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گزارش مدیریتی</a:t>
            </a:r>
            <a:endParaRPr lang="en-US" sz="2200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1E53EB-C326-C5C4-959B-B32BD390A7C0}"/>
              </a:ext>
            </a:extLst>
          </p:cNvPr>
          <p:cNvSpPr/>
          <p:nvPr/>
        </p:nvSpPr>
        <p:spPr>
          <a:xfrm>
            <a:off x="11252200" y="2730500"/>
            <a:ext cx="127000" cy="1270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DA2CC7-7E28-A9FB-2F90-B109902B9D8F}"/>
              </a:ext>
            </a:extLst>
          </p:cNvPr>
          <p:cNvSpPr txBox="1"/>
          <p:nvPr/>
        </p:nvSpPr>
        <p:spPr>
          <a:xfrm>
            <a:off x="6604000" y="2616199"/>
            <a:ext cx="45212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آمار وضعیت درخواست‌ها</a:t>
            </a:r>
            <a:endParaRPr lang="en-US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01BCE7-137D-7E89-4A7C-1B9254E72185}"/>
              </a:ext>
            </a:extLst>
          </p:cNvPr>
          <p:cNvSpPr txBox="1"/>
          <p:nvPr/>
        </p:nvSpPr>
        <p:spPr>
          <a:xfrm>
            <a:off x="6604000" y="2971800"/>
            <a:ext cx="4521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کل، تایید شده، رد شده و در انتظار</a:t>
            </a:r>
            <a:endParaRPr lang="en-US" sz="15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DDAD9EA-33C3-77DD-3741-62669BD75228}"/>
              </a:ext>
            </a:extLst>
          </p:cNvPr>
          <p:cNvSpPr/>
          <p:nvPr/>
        </p:nvSpPr>
        <p:spPr>
          <a:xfrm>
            <a:off x="11252200" y="3543300"/>
            <a:ext cx="127000" cy="1270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626EBB-E81A-C0CC-4E0E-BF79367C5E09}"/>
              </a:ext>
            </a:extLst>
          </p:cNvPr>
          <p:cNvSpPr txBox="1"/>
          <p:nvPr/>
        </p:nvSpPr>
        <p:spPr>
          <a:xfrm>
            <a:off x="6604000" y="3428999"/>
            <a:ext cx="45212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کارمند برتر</a:t>
            </a:r>
            <a:endParaRPr lang="en-US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6B3116-668B-A010-4323-B9084345FDA5}"/>
              </a:ext>
            </a:extLst>
          </p:cNvPr>
          <p:cNvSpPr txBox="1"/>
          <p:nvPr/>
        </p:nvSpPr>
        <p:spPr>
          <a:xfrm>
            <a:off x="6604000" y="3784600"/>
            <a:ext cx="4521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در بازه‌ی هفته، ماه و سال</a:t>
            </a:r>
            <a:endParaRPr lang="en-US" sz="15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488CC6-45AF-D910-8739-1AB238E9AEC0}"/>
              </a:ext>
            </a:extLst>
          </p:cNvPr>
          <p:cNvSpPr/>
          <p:nvPr/>
        </p:nvSpPr>
        <p:spPr>
          <a:xfrm>
            <a:off x="11252200" y="4356100"/>
            <a:ext cx="127000" cy="1270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CFAC5C-ADB5-E8C4-AA4A-AE10BA626FA1}"/>
              </a:ext>
            </a:extLst>
          </p:cNvPr>
          <p:cNvSpPr txBox="1"/>
          <p:nvPr/>
        </p:nvSpPr>
        <p:spPr>
          <a:xfrm>
            <a:off x="6604000" y="4241799"/>
            <a:ext cx="45212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اسناد پرتکرار</a:t>
            </a:r>
            <a:endParaRPr lang="en-US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DB269F-C8CE-32AB-51C6-19044626E551}"/>
              </a:ext>
            </a:extLst>
          </p:cNvPr>
          <p:cNvSpPr txBox="1"/>
          <p:nvPr/>
        </p:nvSpPr>
        <p:spPr>
          <a:xfrm>
            <a:off x="6604000" y="4597400"/>
            <a:ext cx="4521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۱۰ سندی که بیشترین درخواست را داشته‌اند</a:t>
            </a:r>
            <a:endParaRPr lang="en-US" sz="15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7CEC39A-7963-39D4-EA90-878EF3EA5571}"/>
              </a:ext>
            </a:extLst>
          </p:cNvPr>
          <p:cNvSpPr/>
          <p:nvPr/>
        </p:nvSpPr>
        <p:spPr>
          <a:xfrm>
            <a:off x="11252200" y="5168900"/>
            <a:ext cx="127000" cy="1270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AC9649-8CD2-212B-8AB5-C3E0915BC5D9}"/>
              </a:ext>
            </a:extLst>
          </p:cNvPr>
          <p:cNvSpPr txBox="1"/>
          <p:nvPr/>
        </p:nvSpPr>
        <p:spPr>
          <a:xfrm>
            <a:off x="6604000" y="5054599"/>
            <a:ext cx="45212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جستجو با شناسه سند</a:t>
            </a:r>
            <a:endParaRPr lang="en-US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8B9185-A882-3100-5634-1BE5A066D05C}"/>
              </a:ext>
            </a:extLst>
          </p:cNvPr>
          <p:cNvSpPr txBox="1"/>
          <p:nvPr/>
        </p:nvSpPr>
        <p:spPr>
          <a:xfrm>
            <a:off x="6604000" y="5410200"/>
            <a:ext cx="4521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سابقه‌ی همه‌ی درخواست‌های یک سند</a:t>
            </a:r>
            <a:endParaRPr lang="en-US" sz="15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C336B60-5931-FEE3-464B-BF3CE2BA1CCF}"/>
              </a:ext>
            </a:extLst>
          </p:cNvPr>
          <p:cNvSpPr/>
          <p:nvPr/>
        </p:nvSpPr>
        <p:spPr>
          <a:xfrm>
            <a:off x="3238500" y="1498600"/>
            <a:ext cx="2540000" cy="2184400"/>
          </a:xfrm>
          <a:prstGeom prst="roundRect">
            <a:avLst>
              <a:gd name="adj" fmla="val 9302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D6FB50D-D285-0E92-35D1-F98ADC759844}"/>
              </a:ext>
            </a:extLst>
          </p:cNvPr>
          <p:cNvSpPr/>
          <p:nvPr/>
        </p:nvSpPr>
        <p:spPr>
          <a:xfrm>
            <a:off x="5016500" y="1701800"/>
            <a:ext cx="558800" cy="5588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B6A2FAF-CB2C-F5EF-2B46-AD5CA89E32D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848" y="1819148"/>
            <a:ext cx="324104" cy="32410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E476D88-F9D9-0E26-E3CE-D350CB580394}"/>
              </a:ext>
            </a:extLst>
          </p:cNvPr>
          <p:cNvSpPr txBox="1"/>
          <p:nvPr/>
        </p:nvSpPr>
        <p:spPr>
          <a:xfrm>
            <a:off x="3441700" y="2413000"/>
            <a:ext cx="2133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ورود امن</a:t>
            </a:r>
            <a:endParaRPr lang="en-US" sz="19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D8A58C-6B72-356E-B9D8-A3F79CB413CB}"/>
              </a:ext>
            </a:extLst>
          </p:cNvPr>
          <p:cNvSpPr txBox="1"/>
          <p:nvPr/>
        </p:nvSpPr>
        <p:spPr>
          <a:xfrm>
            <a:off x="3441700" y="2819399"/>
            <a:ext cx="2133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نام کاربری، رمز عبور و کد امنیتی؛ بازیابی رمز با پیامک</a:t>
            </a:r>
            <a:endParaRPr lang="en-US" sz="15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5F7E603-F0F7-CC35-CC18-654742E98466}"/>
              </a:ext>
            </a:extLst>
          </p:cNvPr>
          <p:cNvSpPr/>
          <p:nvPr/>
        </p:nvSpPr>
        <p:spPr>
          <a:xfrm>
            <a:off x="508000" y="1498600"/>
            <a:ext cx="2540000" cy="2184400"/>
          </a:xfrm>
          <a:prstGeom prst="roundRect">
            <a:avLst>
              <a:gd name="adj" fmla="val 9302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E984490-FEBF-77C3-6A43-FE237D2E57C5}"/>
              </a:ext>
            </a:extLst>
          </p:cNvPr>
          <p:cNvSpPr/>
          <p:nvPr/>
        </p:nvSpPr>
        <p:spPr>
          <a:xfrm>
            <a:off x="2286000" y="1701800"/>
            <a:ext cx="558800" cy="5588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30F2004-95CB-09C4-FCE2-F1AA22F9B8E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348" y="1819148"/>
            <a:ext cx="324104" cy="32410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8347D6C-2E11-E01F-3C5D-284083A54460}"/>
              </a:ext>
            </a:extLst>
          </p:cNvPr>
          <p:cNvSpPr txBox="1"/>
          <p:nvPr/>
        </p:nvSpPr>
        <p:spPr>
          <a:xfrm>
            <a:off x="711200" y="2413000"/>
            <a:ext cx="2133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نقش و دسترسی</a:t>
            </a:r>
            <a:endParaRPr lang="en-US" sz="19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B8FDE9-2232-90DE-8E34-828569161E52}"/>
              </a:ext>
            </a:extLst>
          </p:cNvPr>
          <p:cNvSpPr txBox="1"/>
          <p:nvPr/>
        </p:nvSpPr>
        <p:spPr>
          <a:xfrm>
            <a:off x="711200" y="2819399"/>
            <a:ext cx="2133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هر کارشناس فقط کارتابل شرکت‌های خود را می‌بیند</a:t>
            </a:r>
            <a:endParaRPr lang="en-US" sz="15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C9245C6-B414-1037-28E4-F308C56E8005}"/>
              </a:ext>
            </a:extLst>
          </p:cNvPr>
          <p:cNvSpPr/>
          <p:nvPr/>
        </p:nvSpPr>
        <p:spPr>
          <a:xfrm>
            <a:off x="3238500" y="3784600"/>
            <a:ext cx="2540000" cy="2184400"/>
          </a:xfrm>
          <a:prstGeom prst="roundRect">
            <a:avLst>
              <a:gd name="adj" fmla="val 9302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287B2D2-EC81-B418-AA48-322507A25FDA}"/>
              </a:ext>
            </a:extLst>
          </p:cNvPr>
          <p:cNvSpPr/>
          <p:nvPr/>
        </p:nvSpPr>
        <p:spPr>
          <a:xfrm>
            <a:off x="5016500" y="3987800"/>
            <a:ext cx="558800" cy="5588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82FE040-EB75-33F5-8C5D-BC752DD5E0D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848" y="4105148"/>
            <a:ext cx="324104" cy="32410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8BC4B1F-76C3-72F0-57CD-C8798A27A147}"/>
              </a:ext>
            </a:extLst>
          </p:cNvPr>
          <p:cNvSpPr txBox="1"/>
          <p:nvPr/>
        </p:nvSpPr>
        <p:spPr>
          <a:xfrm>
            <a:off x="3441700" y="4699000"/>
            <a:ext cx="2133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ردپای کامل</a:t>
            </a:r>
            <a:endParaRPr lang="en-US" sz="19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3F3F8A-3EED-9FFB-FF1F-C9132B0DB12E}"/>
              </a:ext>
            </a:extLst>
          </p:cNvPr>
          <p:cNvSpPr txBox="1"/>
          <p:nvPr/>
        </p:nvSpPr>
        <p:spPr>
          <a:xfrm>
            <a:off x="3441700" y="5105399"/>
            <a:ext cx="2133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هر اقدام روی درخواست با زمان و کاربر ثبت می‌شود</a:t>
            </a:r>
            <a:endParaRPr lang="en-US" sz="15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8C24041-F0D5-CB69-A2DD-F93C7A2B7346}"/>
              </a:ext>
            </a:extLst>
          </p:cNvPr>
          <p:cNvSpPr/>
          <p:nvPr/>
        </p:nvSpPr>
        <p:spPr>
          <a:xfrm>
            <a:off x="508000" y="3784600"/>
            <a:ext cx="2540000" cy="2184400"/>
          </a:xfrm>
          <a:prstGeom prst="roundRect">
            <a:avLst>
              <a:gd name="adj" fmla="val 9302"/>
            </a:avLst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ACFE6AB-9347-9212-4F60-754456084515}"/>
              </a:ext>
            </a:extLst>
          </p:cNvPr>
          <p:cNvSpPr/>
          <p:nvPr/>
        </p:nvSpPr>
        <p:spPr>
          <a:xfrm>
            <a:off x="2286000" y="3987800"/>
            <a:ext cx="558800" cy="558800"/>
          </a:xfrm>
          <a:prstGeom prst="ellipse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8DDDD5F-5A23-97BC-50DB-B4BF4169E978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348" y="4105148"/>
            <a:ext cx="324104" cy="32410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6078B32-4F57-A179-5965-40C6193C939A}"/>
              </a:ext>
            </a:extLst>
          </p:cNvPr>
          <p:cNvSpPr txBox="1"/>
          <p:nvPr/>
        </p:nvSpPr>
        <p:spPr>
          <a:xfrm>
            <a:off x="711200" y="4699000"/>
            <a:ext cx="2133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900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ارتباط امن</a:t>
            </a:r>
            <a:endParaRPr lang="en-US" sz="1900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BCE338-B427-5C01-1565-E33CDC7495EA}"/>
              </a:ext>
            </a:extLst>
          </p:cNvPr>
          <p:cNvSpPr txBox="1"/>
          <p:nvPr/>
        </p:nvSpPr>
        <p:spPr>
          <a:xfrm>
            <a:off x="711200" y="5105399"/>
            <a:ext cx="2133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5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فقط از درگاه سازمانی، با کلید اختصاصی و محدودیت </a:t>
            </a:r>
            <a:r>
              <a:rPr lang="en-US" sz="15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IP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29477D-FFBC-E7CB-FCA8-7C2A851B4D2B}"/>
              </a:ext>
            </a:extLst>
          </p:cNvPr>
          <p:cNvSpPr txBox="1"/>
          <p:nvPr/>
        </p:nvSpPr>
        <p:spPr>
          <a:xfrm>
            <a:off x="5588000" y="6426200"/>
            <a:ext cx="609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سامانه احراز اصالت سند و قبض انبار · بنادر و دریانوردی هرمزگان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49924D-C7D5-27EC-FEFF-66301F5E0172}"/>
              </a:ext>
            </a:extLst>
          </p:cNvPr>
          <p:cNvSpPr txBox="1"/>
          <p:nvPr/>
        </p:nvSpPr>
        <p:spPr>
          <a:xfrm>
            <a:off x="508000" y="6426200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rtl="1"/>
            <a:r>
              <a:rPr lang="ar-SA" sz="1200">
                <a:solidFill>
                  <a:srgbClr val="5E6773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۱۳</a:t>
            </a:r>
            <a:endParaRPr lang="en-US" sz="1200">
              <a:solidFill>
                <a:srgbClr val="5E6773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10942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9F1CA2-E867-07C2-0E18-719DB65DA95C}"/>
              </a:ext>
            </a:extLst>
          </p:cNvPr>
          <p:cNvSpPr txBox="1"/>
          <p:nvPr/>
        </p:nvSpPr>
        <p:spPr>
          <a:xfrm>
            <a:off x="508000" y="1320800"/>
            <a:ext cx="11176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sz="4800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از ثبت آنلاین تا پیامک نتیجه</a:t>
            </a:r>
            <a:endParaRPr lang="en-US" sz="4800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8D2EF4-F142-56FB-BDEE-2EDBAFBD00AF}"/>
              </a:ext>
            </a:extLst>
          </p:cNvPr>
          <p:cNvSpPr txBox="1"/>
          <p:nvPr/>
        </p:nvSpPr>
        <p:spPr>
          <a:xfrm>
            <a:off x="508000" y="2235200"/>
            <a:ext cx="1117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sz="22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یک مسیر سریع، شفاف و قابل‌پیگیری برای قبض انبار و نوبت ارزیابی</a:t>
            </a:r>
            <a:endParaRPr lang="en-US" sz="22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1461CA-8699-A3EC-53F1-867FE0ECEB8A}"/>
              </a:ext>
            </a:extLst>
          </p:cNvPr>
          <p:cNvSpPr/>
          <p:nvPr/>
        </p:nvSpPr>
        <p:spPr>
          <a:xfrm>
            <a:off x="9753600" y="3276600"/>
            <a:ext cx="1930400" cy="660400"/>
          </a:xfrm>
          <a:prstGeom prst="roundRect">
            <a:avLst>
              <a:gd name="adj" fmla="val 26923"/>
            </a:avLst>
          </a:prstGeom>
          <a:solidFill>
            <a:srgbClr val="1E3D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ثبت درخواست</a:t>
            </a:r>
            <a:endParaRPr lang="en-US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DAD30350-4557-9646-64DB-C22420D0BAF9}"/>
              </a:ext>
            </a:extLst>
          </p:cNvPr>
          <p:cNvSpPr/>
          <p:nvPr/>
        </p:nvSpPr>
        <p:spPr>
          <a:xfrm>
            <a:off x="9486900" y="3505200"/>
            <a:ext cx="228600" cy="203200"/>
          </a:xfrm>
          <a:prstGeom prst="leftArrow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56081F-C3FC-35B1-84C7-2E2B9B9227E8}"/>
              </a:ext>
            </a:extLst>
          </p:cNvPr>
          <p:cNvSpPr/>
          <p:nvPr/>
        </p:nvSpPr>
        <p:spPr>
          <a:xfrm>
            <a:off x="7493000" y="3276600"/>
            <a:ext cx="1930400" cy="660400"/>
          </a:xfrm>
          <a:prstGeom prst="roundRect">
            <a:avLst>
              <a:gd name="adj" fmla="val 26923"/>
            </a:avLst>
          </a:prstGeom>
          <a:solidFill>
            <a:srgbClr val="1E3D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تایید پیامکی</a:t>
            </a:r>
            <a:endParaRPr lang="en-US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0CAA97D9-8DBB-0DEB-6B5C-2A7A9D38EC72}"/>
              </a:ext>
            </a:extLst>
          </p:cNvPr>
          <p:cNvSpPr/>
          <p:nvPr/>
        </p:nvSpPr>
        <p:spPr>
          <a:xfrm>
            <a:off x="7226300" y="3505200"/>
            <a:ext cx="228600" cy="203200"/>
          </a:xfrm>
          <a:prstGeom prst="leftArrow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AB38B7-7D50-DA7E-827A-6F6ED2CF5AD7}"/>
              </a:ext>
            </a:extLst>
          </p:cNvPr>
          <p:cNvSpPr/>
          <p:nvPr/>
        </p:nvSpPr>
        <p:spPr>
          <a:xfrm>
            <a:off x="5232400" y="3276600"/>
            <a:ext cx="1930400" cy="660400"/>
          </a:xfrm>
          <a:prstGeom prst="roundRect">
            <a:avLst>
              <a:gd name="adj" fmla="val 26923"/>
            </a:avLst>
          </a:prstGeom>
          <a:solidFill>
            <a:srgbClr val="1E3D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استعلام خودکار</a:t>
            </a:r>
            <a:endParaRPr lang="en-US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8589098D-9054-D33F-A07A-BFEBEED294A1}"/>
              </a:ext>
            </a:extLst>
          </p:cNvPr>
          <p:cNvSpPr/>
          <p:nvPr/>
        </p:nvSpPr>
        <p:spPr>
          <a:xfrm>
            <a:off x="4965700" y="3505200"/>
            <a:ext cx="228600" cy="203200"/>
          </a:xfrm>
          <a:prstGeom prst="leftArrow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5BEDF99-9EFF-D307-2193-FC6A98FEC9DA}"/>
              </a:ext>
            </a:extLst>
          </p:cNvPr>
          <p:cNvSpPr/>
          <p:nvPr/>
        </p:nvSpPr>
        <p:spPr>
          <a:xfrm>
            <a:off x="2971800" y="3276600"/>
            <a:ext cx="1930400" cy="660400"/>
          </a:xfrm>
          <a:prstGeom prst="roundRect">
            <a:avLst>
              <a:gd name="adj" fmla="val 26923"/>
            </a:avLst>
          </a:prstGeom>
          <a:solidFill>
            <a:srgbClr val="1E3D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b="1">
                <a:solidFill>
                  <a:srgbClr val="FFFFFF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کارتابل کارشناس</a:t>
            </a:r>
            <a:endParaRPr lang="en-US" b="1">
              <a:solidFill>
                <a:srgbClr val="FFFFFF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B4B46DF7-5966-006F-03E9-DE4E9DCE7DB8}"/>
              </a:ext>
            </a:extLst>
          </p:cNvPr>
          <p:cNvSpPr/>
          <p:nvPr/>
        </p:nvSpPr>
        <p:spPr>
          <a:xfrm>
            <a:off x="2705100" y="3505200"/>
            <a:ext cx="228600" cy="203200"/>
          </a:xfrm>
          <a:prstGeom prst="leftArrow">
            <a:avLst/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77B1243-A43E-8DF4-C51A-4264C14064DC}"/>
              </a:ext>
            </a:extLst>
          </p:cNvPr>
          <p:cNvSpPr/>
          <p:nvPr/>
        </p:nvSpPr>
        <p:spPr>
          <a:xfrm>
            <a:off x="711200" y="3276600"/>
            <a:ext cx="1930400" cy="660400"/>
          </a:xfrm>
          <a:prstGeom prst="roundRect">
            <a:avLst>
              <a:gd name="adj" fmla="val 26923"/>
            </a:avLst>
          </a:prstGeom>
          <a:solidFill>
            <a:srgbClr val="F6AE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/>
            <a:r>
              <a:rPr lang="ar-SA" b="1">
                <a:solidFill>
                  <a:srgbClr val="13294B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پیامک نتیجه</a:t>
            </a:r>
            <a:endParaRPr lang="en-US" b="1">
              <a:solidFill>
                <a:srgbClr val="13294B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1F791D-E24F-3565-0C3C-6FFFE840497B}"/>
              </a:ext>
            </a:extLst>
          </p:cNvPr>
          <p:cNvSpPr txBox="1"/>
          <p:nvPr/>
        </p:nvSpPr>
        <p:spPr>
          <a:xfrm>
            <a:off x="609600" y="46355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sz="3000" b="1" dirty="0">
                <a:solidFill>
                  <a:srgbClr val="F6AE2D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سپاس از توجه شما</a:t>
            </a:r>
            <a:endParaRPr lang="en-US" sz="3000" b="1" dirty="0">
              <a:solidFill>
                <a:srgbClr val="F6AE2D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EC52BC-A47D-C78E-944E-DE34EBEF5620}"/>
              </a:ext>
            </a:extLst>
          </p:cNvPr>
          <p:cNvSpPr txBox="1"/>
          <p:nvPr/>
        </p:nvSpPr>
        <p:spPr>
          <a:xfrm>
            <a:off x="508000" y="5664200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rtl="1"/>
            <a:r>
              <a:rPr lang="ar-SA" sz="1700">
                <a:solidFill>
                  <a:srgbClr val="C9DBF2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اداره کل بنادر و دریانوردی استان هرمزگان · اداره فاوا</a:t>
            </a:r>
            <a:endParaRPr lang="en-US" sz="1700">
              <a:solidFill>
                <a:srgbClr val="C9DBF2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76545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1975</Words>
  <Application>Microsoft Office PowerPoint</Application>
  <PresentationFormat>Widescreen</PresentationFormat>
  <Paragraphs>378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IKA .</dc:creator>
  <cp:lastModifiedBy>IKA .</cp:lastModifiedBy>
  <cp:revision>4</cp:revision>
  <dcterms:created xsi:type="dcterms:W3CDTF">2026-10-25T10:13:17Z</dcterms:created>
  <dcterms:modified xsi:type="dcterms:W3CDTF">2026-10-25T10:51:17Z</dcterms:modified>
</cp:coreProperties>
</file>